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19007138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87" userDrawn="1">
          <p15:clr>
            <a:srgbClr val="A4A3A4"/>
          </p15:clr>
        </p15:guide>
        <p15:guide id="2" pos="6112" userDrawn="1">
          <p15:clr>
            <a:srgbClr val="A4A3A4"/>
          </p15:clr>
        </p15:guide>
        <p15:guide id="3" orient="horz" pos="3367" userDrawn="1">
          <p15:clr>
            <a:srgbClr val="A4A3A4"/>
          </p15:clr>
        </p15:guide>
        <p15:guide id="4" orient="horz" pos="3467" userDrawn="1">
          <p15:clr>
            <a:srgbClr val="A4A3A4"/>
          </p15:clr>
        </p15:guide>
        <p15:guide id="5" pos="6238" userDrawn="1">
          <p15:clr>
            <a:srgbClr val="A4A3A4"/>
          </p15:clr>
        </p15:guide>
        <p15:guide id="6" orient="horz" pos="35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5A33"/>
    <a:srgbClr val="1F2E3A"/>
    <a:srgbClr val="D3A133"/>
    <a:srgbClr val="FFFFFF"/>
    <a:srgbClr val="3F5568"/>
    <a:srgbClr val="3F5D3A"/>
    <a:srgbClr val="B56A42"/>
    <a:srgbClr val="5A3A29"/>
    <a:srgbClr val="7F9A73"/>
    <a:srgbClr val="4B6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6323" autoAdjust="0"/>
  </p:normalViewPr>
  <p:slideViewPr>
    <p:cSldViewPr snapToGrid="0">
      <p:cViewPr varScale="1">
        <p:scale>
          <a:sx n="73" d="100"/>
          <a:sy n="73" d="100"/>
        </p:scale>
        <p:origin x="702" y="66"/>
      </p:cViewPr>
      <p:guideLst>
        <p:guide pos="5987"/>
        <p:guide pos="6112"/>
        <p:guide orient="horz" pos="3367"/>
        <p:guide orient="horz" pos="3467"/>
        <p:guide pos="6238"/>
        <p:guide orient="horz" pos="3567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C8133-1C50-455E-BC28-34DC7687A93A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61911-022E-4903-A3B2-8C6B9B4D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61911-022E-4903-A3B2-8C6B9B4D15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3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5892" y="1749795"/>
            <a:ext cx="14255354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5892" y="5615678"/>
            <a:ext cx="14255354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3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841" y="2665530"/>
            <a:ext cx="16393657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6841" y="7155102"/>
            <a:ext cx="16393657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22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741" y="2846200"/>
            <a:ext cx="807803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2363" y="2846200"/>
            <a:ext cx="807803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4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216" y="569241"/>
            <a:ext cx="16393657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217" y="2620980"/>
            <a:ext cx="8040910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217" y="3905482"/>
            <a:ext cx="8040910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2364" y="2620980"/>
            <a:ext cx="8080509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2364" y="3905482"/>
            <a:ext cx="8080509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2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9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1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217" y="712788"/>
            <a:ext cx="6130296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0509" y="1539424"/>
            <a:ext cx="9622364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217" y="3207544"/>
            <a:ext cx="6130296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3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217" y="712788"/>
            <a:ext cx="6130296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0509" y="1539424"/>
            <a:ext cx="9622364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217" y="3207544"/>
            <a:ext cx="6130296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3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5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1983" y="569240"/>
            <a:ext cx="4098414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741" y="569240"/>
            <a:ext cx="12057653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1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741" y="569241"/>
            <a:ext cx="16393657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741" y="2846200"/>
            <a:ext cx="16393657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741" y="9909727"/>
            <a:ext cx="427660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714D-EC49-4781-95C4-72B267F315A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6115" y="9909727"/>
            <a:ext cx="6414909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3791" y="9909727"/>
            <a:ext cx="427660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75984-1DB7-4552-AF5F-6092185C7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3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E1D9CB"/>
          </a:fgClr>
          <a:bgClr>
            <a:srgbClr val="F5EFE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2D7C7C0-3C82-4E09-91A1-9D374364D0A3}"/>
              </a:ext>
            </a:extLst>
          </p:cNvPr>
          <p:cNvSpPr/>
          <p:nvPr/>
        </p:nvSpPr>
        <p:spPr>
          <a:xfrm>
            <a:off x="130969" y="2344928"/>
            <a:ext cx="6755606" cy="2049271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err="1"/>
              <a:t>قوی‌ترین</a:t>
            </a:r>
            <a:r>
              <a:rPr lang="fa-IR" dirty="0"/>
              <a:t> </a:t>
            </a:r>
            <a:r>
              <a:rPr lang="fa-IR" dirty="0" err="1"/>
              <a:t>همبستگی‌ها</a:t>
            </a:r>
            <a:r>
              <a:rPr lang="fa-IR" dirty="0"/>
              <a:t> با قیمت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0F434-112A-4330-A714-BE1CBEB1DA55}"/>
              </a:ext>
            </a:extLst>
          </p:cNvPr>
          <p:cNvSpPr txBox="1"/>
          <p:nvPr/>
        </p:nvSpPr>
        <p:spPr>
          <a:xfrm>
            <a:off x="13540801" y="1153109"/>
            <a:ext cx="5345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900" b="1" dirty="0">
                <a:solidFill>
                  <a:srgbClr val="6B7280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استاد : </a:t>
            </a:r>
            <a:r>
              <a:rPr lang="fa-IR" sz="900" b="1" dirty="0">
                <a:solidFill>
                  <a:srgbClr val="1F2937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دکتر امید کریمی   </a:t>
            </a:r>
            <a:r>
              <a:rPr lang="fa-IR" sz="900" b="1" dirty="0">
                <a:solidFill>
                  <a:srgbClr val="6B7280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دانشجو: </a:t>
            </a:r>
            <a:r>
              <a:rPr lang="fa-IR" sz="900" b="1" dirty="0">
                <a:solidFill>
                  <a:srgbClr val="1F2937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سارا دهقانی   </a:t>
            </a:r>
            <a:r>
              <a:rPr lang="fa-IR" sz="900" b="1" dirty="0">
                <a:solidFill>
                  <a:srgbClr val="6B7280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بهار 1405</a:t>
            </a:r>
            <a:endParaRPr lang="en-US" sz="900" b="1" dirty="0">
              <a:solidFill>
                <a:srgbClr val="6B7280"/>
              </a:solidFill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3A06EA-4D8D-489B-B44D-22F3DE1E6A01}"/>
              </a:ext>
            </a:extLst>
          </p:cNvPr>
          <p:cNvSpPr/>
          <p:nvPr/>
        </p:nvSpPr>
        <p:spPr>
          <a:xfrm>
            <a:off x="16555368" y="52933"/>
            <a:ext cx="2330890" cy="344869"/>
          </a:xfrm>
          <a:prstGeom prst="roundRect">
            <a:avLst/>
          </a:prstGeom>
          <a:solidFill>
            <a:srgbClr val="F7ECE0"/>
          </a:solidFill>
          <a:ln w="12700">
            <a:solidFill>
              <a:srgbClr val="C36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886" dirty="0">
                <a:solidFill>
                  <a:srgbClr val="B45A2F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پروژه دیدار سازی داده‌ ها</a:t>
            </a:r>
            <a:endParaRPr lang="en-US" sz="1886" dirty="0">
              <a:solidFill>
                <a:srgbClr val="B45A2F"/>
              </a:solidFill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23FA5-C059-4C86-AAFE-0BA7998F80FB}"/>
              </a:ext>
            </a:extLst>
          </p:cNvPr>
          <p:cNvSpPr txBox="1"/>
          <p:nvPr/>
        </p:nvSpPr>
        <p:spPr>
          <a:xfrm>
            <a:off x="11761036" y="444422"/>
            <a:ext cx="7125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1" dirty="0">
                <a:solidFill>
                  <a:srgbClr val="1F2937"/>
                </a:solidFill>
                <a:cs typeface="B Titr" panose="00000700000000000000" pitchFamily="2" charset="-78"/>
              </a:rPr>
              <a:t>چه چیزی قیمت خانه را در</a:t>
            </a:r>
            <a:r>
              <a:rPr lang="en-US" sz="2400" b="1" dirty="0">
                <a:solidFill>
                  <a:srgbClr val="1F2937"/>
                </a:solidFill>
                <a:latin typeface="Arial Black" panose="020B0A04020102020204" pitchFamily="34" charset="0"/>
                <a:cs typeface="B Titr" panose="00000700000000000000" pitchFamily="2" charset="-78"/>
              </a:rPr>
              <a:t>Ames</a:t>
            </a:r>
            <a:r>
              <a:rPr lang="en-US" sz="2400" b="1" dirty="0">
                <a:solidFill>
                  <a:srgbClr val="1F2937"/>
                </a:solidFill>
                <a:cs typeface="B Titr" panose="00000700000000000000" pitchFamily="2" charset="-78"/>
              </a:rPr>
              <a:t> </a:t>
            </a:r>
            <a:r>
              <a:rPr lang="fa-IR" sz="2400" b="1" dirty="0">
                <a:solidFill>
                  <a:srgbClr val="1F2937"/>
                </a:solidFill>
                <a:cs typeface="B Titr" panose="00000700000000000000" pitchFamily="2" charset="-78"/>
              </a:rPr>
              <a:t> میسازد؟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10058-73F6-4121-8256-EA79CEEF4E74}"/>
              </a:ext>
            </a:extLst>
          </p:cNvPr>
          <p:cNvSpPr txBox="1"/>
          <p:nvPr/>
        </p:nvSpPr>
        <p:spPr>
          <a:xfrm>
            <a:off x="11761036" y="886222"/>
            <a:ext cx="71252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100" dirty="0">
                <a:solidFill>
                  <a:srgbClr val="6B7280"/>
                </a:solidFill>
                <a:cs typeface="B Titr" panose="00000700000000000000" pitchFamily="2" charset="-78"/>
              </a:rPr>
              <a:t>تحلیل و مصور سازی 1460 خانه از مجموعه داده ی </a:t>
            </a:r>
            <a:r>
              <a:rPr lang="en-US" sz="1100" dirty="0">
                <a:solidFill>
                  <a:srgbClr val="6B7280"/>
                </a:solidFill>
                <a:cs typeface="B Titr" panose="00000700000000000000" pitchFamily="2" charset="-78"/>
              </a:rPr>
              <a:t>Ames Housing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098AB-CB5C-4D8D-9F6C-66CC92A5E371}"/>
              </a:ext>
            </a:extLst>
          </p:cNvPr>
          <p:cNvSpPr/>
          <p:nvPr/>
        </p:nvSpPr>
        <p:spPr>
          <a:xfrm>
            <a:off x="130969" y="1471485"/>
            <a:ext cx="18745200" cy="77595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6CD"/>
            </a:solidFill>
          </a:ln>
          <a:effectLst>
            <a:outerShdw blurRad="508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2263" dirty="0"/>
              <a:t>                  </a:t>
            </a:r>
            <a:endParaRPr lang="en-US" sz="2263" dirty="0">
              <a:latin typeface="IRFerdosi" panose="02000506000000020002" pitchFamily="2" charset="-78"/>
              <a:cs typeface="IRFerdosi" panose="02000506000000020002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ABCCF-62C5-42DC-A4D6-8978E13E0641}"/>
              </a:ext>
            </a:extLst>
          </p:cNvPr>
          <p:cNvSpPr txBox="1"/>
          <p:nvPr/>
        </p:nvSpPr>
        <p:spPr>
          <a:xfrm>
            <a:off x="14409108" y="1682714"/>
            <a:ext cx="2632702" cy="35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97" dirty="0">
                <a:latin typeface="Yu Gothic" panose="020B0400000000000000" pitchFamily="34" charset="-128"/>
                <a:ea typeface="Yu Gothic" panose="020B0400000000000000" pitchFamily="34" charset="-128"/>
                <a:cs typeface="IRFerdosi" panose="02000506000000020002" pitchFamily="2" charset="-78"/>
                <a:sym typeface="Wingdings" panose="05000000000000000000" pitchFamily="2" charset="2"/>
              </a:rPr>
              <a:t> </a:t>
            </a:r>
            <a:r>
              <a:rPr lang="en-US" sz="1200" b="1" dirty="0">
                <a:solidFill>
                  <a:srgbClr val="111827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IRFerdosi" panose="02000506000000020002" pitchFamily="2" charset="-78"/>
                <a:sym typeface="Wingdings" panose="05000000000000000000" pitchFamily="2" charset="2"/>
              </a:rPr>
              <a:t>0     7,829</a:t>
            </a:r>
            <a:r>
              <a:rPr lang="en-US" sz="1697" b="1" dirty="0">
                <a:solidFill>
                  <a:srgbClr val="111827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IRFerdosi" panose="02000506000000020002" pitchFamily="2" charset="-78"/>
                <a:sym typeface="Wingdings" panose="05000000000000000000" pitchFamily="2" charset="2"/>
              </a:rPr>
              <a:t> </a:t>
            </a:r>
            <a:r>
              <a:rPr lang="en-US" sz="1697" dirty="0">
                <a:solidFill>
                  <a:srgbClr val="111827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IRFerdosi" panose="02000506000000020002" pitchFamily="2" charset="-78"/>
                <a:sym typeface="Wingdings" panose="05000000000000000000" pitchFamily="2" charset="2"/>
              </a:rPr>
              <a:t> </a:t>
            </a:r>
            <a:r>
              <a:rPr lang="fa-IR" sz="900" b="1" dirty="0">
                <a:solidFill>
                  <a:srgbClr val="6B7280"/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  <a:sym typeface="Wingdings" panose="05000000000000000000" pitchFamily="2" charset="2"/>
              </a:rPr>
              <a:t>مقادیر گمشده</a:t>
            </a:r>
            <a:endParaRPr lang="en-US" sz="1697" b="1" dirty="0">
              <a:solidFill>
                <a:srgbClr val="6B7280"/>
              </a:solidFill>
              <a:latin typeface="Adobe Arabic" panose="02040703060201020203" pitchFamily="18" charset="-7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D46A7-0892-46BD-9F7A-3F47F9E45D98}"/>
              </a:ext>
            </a:extLst>
          </p:cNvPr>
          <p:cNvSpPr txBox="1"/>
          <p:nvPr/>
        </p:nvSpPr>
        <p:spPr>
          <a:xfrm>
            <a:off x="5971479" y="1682714"/>
            <a:ext cx="4224634" cy="35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697" dirty="0">
                <a:solidFill>
                  <a:srgbClr val="6B728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 </a:t>
            </a:r>
            <a:r>
              <a:rPr lang="en-US" sz="1697" dirty="0">
                <a:solidFill>
                  <a:srgbClr val="6B728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 </a:t>
            </a:r>
            <a:r>
              <a:rPr lang="fa-IR" sz="900" b="1" dirty="0">
                <a:solidFill>
                  <a:srgbClr val="6B728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داده ی پرت حذف شده </a:t>
            </a:r>
            <a:r>
              <a:rPr lang="en-US" sz="1697" b="1" dirty="0">
                <a:solidFill>
                  <a:srgbClr val="6B728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      </a:t>
            </a:r>
            <a:r>
              <a:rPr lang="en-US" sz="1400" b="1" dirty="0">
                <a:solidFill>
                  <a:srgbClr val="B45309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87</a:t>
            </a:r>
            <a:r>
              <a:rPr lang="en-US" sz="1697" dirty="0"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     </a:t>
            </a:r>
            <a:r>
              <a:rPr lang="en-US" sz="900" b="1" dirty="0">
                <a:solidFill>
                  <a:srgbClr val="6B728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(IQR)</a:t>
            </a:r>
            <a:endParaRPr lang="en-US" sz="1697" b="1" dirty="0">
              <a:solidFill>
                <a:srgbClr val="6B7280"/>
              </a:solidFill>
              <a:latin typeface="Yu Gothic" panose="020B0400000000000000" pitchFamily="34" charset="-12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C18DE-CC38-418C-A43B-C3E9D6416F12}"/>
              </a:ext>
            </a:extLst>
          </p:cNvPr>
          <p:cNvSpPr txBox="1"/>
          <p:nvPr/>
        </p:nvSpPr>
        <p:spPr>
          <a:xfrm>
            <a:off x="794906" y="1711727"/>
            <a:ext cx="356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900" dirty="0">
                <a:solidFill>
                  <a:srgbClr val="6B7280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مقادیر نهایی      </a:t>
            </a:r>
            <a:r>
              <a:rPr lang="en-US" sz="900" dirty="0">
                <a:solidFill>
                  <a:srgbClr val="6B7280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        </a:t>
            </a:r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1,373      </a:t>
            </a:r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1,460</a:t>
            </a:r>
            <a:endParaRPr lang="en-US" sz="1697" b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FC645D-1C43-4D9B-A2EA-80BE287DD223}"/>
              </a:ext>
            </a:extLst>
          </p:cNvPr>
          <p:cNvCxnSpPr>
            <a:cxnSpLocks/>
          </p:cNvCxnSpPr>
          <p:nvPr/>
        </p:nvCxnSpPr>
        <p:spPr>
          <a:xfrm flipH="1">
            <a:off x="11940660" y="1859461"/>
            <a:ext cx="594240" cy="0"/>
          </a:xfrm>
          <a:prstGeom prst="straightConnector1">
            <a:avLst/>
          </a:prstGeom>
          <a:ln w="12700">
            <a:solidFill>
              <a:srgbClr val="F4CE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14B96B06-DF2B-42F5-93B5-F5DC60C81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978" y="1780206"/>
            <a:ext cx="676715" cy="15851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E6A0D46-E79F-45EE-B586-170460F13AF3}"/>
              </a:ext>
            </a:extLst>
          </p:cNvPr>
          <p:cNvCxnSpPr>
            <a:cxnSpLocks/>
          </p:cNvCxnSpPr>
          <p:nvPr/>
        </p:nvCxnSpPr>
        <p:spPr>
          <a:xfrm flipH="1">
            <a:off x="14668500" y="1850227"/>
            <a:ext cx="165100" cy="0"/>
          </a:xfrm>
          <a:prstGeom prst="straightConnector1">
            <a:avLst/>
          </a:prstGeom>
          <a:ln>
            <a:solidFill>
              <a:srgbClr val="1118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F7AE33E3-E240-4CDD-BDEF-515571C2B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897" y="1767924"/>
            <a:ext cx="249958" cy="164606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3871E59-1A5C-4133-8C9C-4CEC95C7D412}"/>
              </a:ext>
            </a:extLst>
          </p:cNvPr>
          <p:cNvSpPr/>
          <p:nvPr/>
        </p:nvSpPr>
        <p:spPr>
          <a:xfrm>
            <a:off x="7067388" y="2344929"/>
            <a:ext cx="5841090" cy="204927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2117C63-61DF-4996-A1A7-B329B69150DC}"/>
              </a:ext>
            </a:extLst>
          </p:cNvPr>
          <p:cNvSpPr/>
          <p:nvPr/>
        </p:nvSpPr>
        <p:spPr>
          <a:xfrm>
            <a:off x="13084528" y="2346886"/>
            <a:ext cx="5786878" cy="2047313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E85A36-7291-414F-A027-8810549140E4}"/>
              </a:ext>
            </a:extLst>
          </p:cNvPr>
          <p:cNvSpPr txBox="1"/>
          <p:nvPr/>
        </p:nvSpPr>
        <p:spPr>
          <a:xfrm>
            <a:off x="1628884" y="2364784"/>
            <a:ext cx="51297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100" dirty="0">
                <a:cs typeface="B Titr" panose="00000700000000000000" pitchFamily="2" charset="-78"/>
              </a:rPr>
              <a:t>🔗 قوی ترین همبستگی ها</a:t>
            </a:r>
            <a:endParaRPr lang="en-US" sz="1100" dirty="0">
              <a:cs typeface="B Titr" panose="000007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37EC39-BDBA-4298-BD6D-CBF80F2A226A}"/>
              </a:ext>
            </a:extLst>
          </p:cNvPr>
          <p:cNvSpPr/>
          <p:nvPr/>
        </p:nvSpPr>
        <p:spPr>
          <a:xfrm>
            <a:off x="671356" y="2729576"/>
            <a:ext cx="5534859" cy="18288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A9A30B-2945-4D8E-870B-7FFD2209B984}"/>
              </a:ext>
            </a:extLst>
          </p:cNvPr>
          <p:cNvSpPr/>
          <p:nvPr/>
        </p:nvSpPr>
        <p:spPr>
          <a:xfrm>
            <a:off x="671353" y="3180359"/>
            <a:ext cx="5534859" cy="18288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5D430D-E6FF-44A1-AED4-0CA3F4824D17}"/>
              </a:ext>
            </a:extLst>
          </p:cNvPr>
          <p:cNvSpPr/>
          <p:nvPr/>
        </p:nvSpPr>
        <p:spPr>
          <a:xfrm>
            <a:off x="671353" y="3418802"/>
            <a:ext cx="5534859" cy="18288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37123D-88CD-4506-8855-0AA81703193F}"/>
              </a:ext>
            </a:extLst>
          </p:cNvPr>
          <p:cNvSpPr/>
          <p:nvPr/>
        </p:nvSpPr>
        <p:spPr>
          <a:xfrm>
            <a:off x="671353" y="2948206"/>
            <a:ext cx="5534859" cy="18288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578904-CEA1-46BD-97EF-5D7A500CA4B3}"/>
              </a:ext>
            </a:extLst>
          </p:cNvPr>
          <p:cNvSpPr/>
          <p:nvPr/>
        </p:nvSpPr>
        <p:spPr>
          <a:xfrm>
            <a:off x="1725653" y="2729576"/>
            <a:ext cx="4480560" cy="182880"/>
          </a:xfrm>
          <a:prstGeom prst="roundRect">
            <a:avLst/>
          </a:prstGeom>
          <a:gradFill flip="none" rotWithShape="1">
            <a:gsLst>
              <a:gs pos="99734">
                <a:srgbClr val="F5F8FC">
                  <a:lumMod val="100000"/>
                </a:srgbClr>
              </a:gs>
              <a:gs pos="99468">
                <a:srgbClr val="F4F7FC"/>
              </a:gs>
              <a:gs pos="98937">
                <a:srgbClr val="F2F5FB"/>
              </a:gs>
              <a:gs pos="97875">
                <a:srgbClr val="EDF1F9"/>
              </a:gs>
              <a:gs pos="95750">
                <a:srgbClr val="E4EAF6"/>
              </a:gs>
              <a:gs pos="91500">
                <a:srgbClr val="D1DCF0"/>
              </a:gs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F59DE8-0B03-4ABB-83A4-3D8B6BF4D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3" y="3670366"/>
            <a:ext cx="5535648" cy="182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06276B-636C-4B8F-8B84-43F488355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4" y="3924006"/>
            <a:ext cx="5535648" cy="182896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646E38C-5628-47B9-B731-849CA709F1F1}"/>
              </a:ext>
            </a:extLst>
          </p:cNvPr>
          <p:cNvSpPr/>
          <p:nvPr/>
        </p:nvSpPr>
        <p:spPr>
          <a:xfrm>
            <a:off x="2457172" y="2959770"/>
            <a:ext cx="3749040" cy="182880"/>
          </a:xfrm>
          <a:prstGeom prst="roundRect">
            <a:avLst/>
          </a:prstGeom>
          <a:gradFill flip="none" rotWithShape="1">
            <a:gsLst>
              <a:gs pos="99734">
                <a:srgbClr val="F5F8FC">
                  <a:lumMod val="100000"/>
                </a:srgbClr>
              </a:gs>
              <a:gs pos="99468">
                <a:srgbClr val="F4F7FC"/>
              </a:gs>
              <a:gs pos="98937">
                <a:srgbClr val="F2F5FB"/>
              </a:gs>
              <a:gs pos="97875">
                <a:srgbClr val="EDF1F9"/>
              </a:gs>
              <a:gs pos="95750">
                <a:srgbClr val="E4EAF6"/>
              </a:gs>
              <a:gs pos="91500">
                <a:srgbClr val="D1DCF0"/>
              </a:gs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D999091-258D-44BC-A23C-D1E5C31EBFF0}"/>
              </a:ext>
            </a:extLst>
          </p:cNvPr>
          <p:cNvSpPr/>
          <p:nvPr/>
        </p:nvSpPr>
        <p:spPr>
          <a:xfrm>
            <a:off x="2731492" y="3173799"/>
            <a:ext cx="3474720" cy="182880"/>
          </a:xfrm>
          <a:prstGeom prst="roundRect">
            <a:avLst/>
          </a:prstGeom>
          <a:gradFill flip="none" rotWithShape="1">
            <a:gsLst>
              <a:gs pos="99734">
                <a:srgbClr val="F5F8FC">
                  <a:lumMod val="100000"/>
                </a:srgbClr>
              </a:gs>
              <a:gs pos="99468">
                <a:srgbClr val="F4F7FC"/>
              </a:gs>
              <a:gs pos="98937">
                <a:srgbClr val="F2F5FB"/>
              </a:gs>
              <a:gs pos="97875">
                <a:srgbClr val="EDF1F9"/>
              </a:gs>
              <a:gs pos="95750">
                <a:srgbClr val="E4EAF6"/>
              </a:gs>
              <a:gs pos="91500">
                <a:srgbClr val="D1DCF0"/>
              </a:gs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627134E-0AC3-4FB0-BD1D-53669D86FD70}"/>
              </a:ext>
            </a:extLst>
          </p:cNvPr>
          <p:cNvSpPr/>
          <p:nvPr/>
        </p:nvSpPr>
        <p:spPr>
          <a:xfrm>
            <a:off x="3097252" y="3676926"/>
            <a:ext cx="3108960" cy="182880"/>
          </a:xfrm>
          <a:prstGeom prst="roundRect">
            <a:avLst/>
          </a:prstGeom>
          <a:gradFill flip="none" rotWithShape="1">
            <a:gsLst>
              <a:gs pos="99734">
                <a:srgbClr val="F5F8FC">
                  <a:lumMod val="100000"/>
                </a:srgbClr>
              </a:gs>
              <a:gs pos="99468">
                <a:srgbClr val="F4F7FC"/>
              </a:gs>
              <a:gs pos="98937">
                <a:srgbClr val="F2F5FB"/>
              </a:gs>
              <a:gs pos="97875">
                <a:srgbClr val="EDF1F9"/>
              </a:gs>
              <a:gs pos="95750">
                <a:srgbClr val="E4EAF6"/>
              </a:gs>
              <a:gs pos="91500">
                <a:srgbClr val="D1DCF0"/>
              </a:gs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A94FB9D-FC5F-4544-BFA4-4693463EFC8B}"/>
              </a:ext>
            </a:extLst>
          </p:cNvPr>
          <p:cNvSpPr/>
          <p:nvPr/>
        </p:nvSpPr>
        <p:spPr>
          <a:xfrm>
            <a:off x="2914372" y="3417764"/>
            <a:ext cx="3291840" cy="182880"/>
          </a:xfrm>
          <a:prstGeom prst="roundRect">
            <a:avLst/>
          </a:prstGeom>
          <a:gradFill flip="none" rotWithShape="1">
            <a:gsLst>
              <a:gs pos="99734">
                <a:srgbClr val="F5F8FC">
                  <a:lumMod val="100000"/>
                </a:srgbClr>
              </a:gs>
              <a:gs pos="99468">
                <a:srgbClr val="F4F7FC"/>
              </a:gs>
              <a:gs pos="98937">
                <a:srgbClr val="F2F5FB"/>
              </a:gs>
              <a:gs pos="97875">
                <a:srgbClr val="EDF1F9"/>
              </a:gs>
              <a:gs pos="95750">
                <a:srgbClr val="E4EAF6"/>
              </a:gs>
              <a:gs pos="91500">
                <a:srgbClr val="D1DCF0"/>
              </a:gs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0734F01-23D3-45F1-BF45-0FD944E947A3}"/>
              </a:ext>
            </a:extLst>
          </p:cNvPr>
          <p:cNvSpPr/>
          <p:nvPr/>
        </p:nvSpPr>
        <p:spPr>
          <a:xfrm>
            <a:off x="3189876" y="3928754"/>
            <a:ext cx="3017520" cy="182880"/>
          </a:xfrm>
          <a:prstGeom prst="roundRect">
            <a:avLst/>
          </a:prstGeom>
          <a:gradFill flip="none" rotWithShape="1">
            <a:gsLst>
              <a:gs pos="99734">
                <a:srgbClr val="F5F8FC">
                  <a:lumMod val="100000"/>
                </a:srgbClr>
              </a:gs>
              <a:gs pos="99468">
                <a:srgbClr val="F4F7FC"/>
              </a:gs>
              <a:gs pos="98937">
                <a:srgbClr val="F2F5FB"/>
              </a:gs>
              <a:gs pos="97875">
                <a:srgbClr val="EDF1F9"/>
              </a:gs>
              <a:gs pos="95750">
                <a:srgbClr val="E4EAF6"/>
              </a:gs>
              <a:gs pos="91500">
                <a:srgbClr val="D1DCF0"/>
              </a:gs>
              <a:gs pos="10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E5C840-CFB2-4786-914D-D33ECFE2DAD5}"/>
              </a:ext>
            </a:extLst>
          </p:cNvPr>
          <p:cNvSpPr txBox="1"/>
          <p:nvPr/>
        </p:nvSpPr>
        <p:spPr>
          <a:xfrm>
            <a:off x="6152872" y="2695302"/>
            <a:ext cx="8941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latin typeface="Bahnschrift" panose="020B0502040204020203" pitchFamily="34" charset="0"/>
              </a:rPr>
              <a:t>OverallQual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/>
          </a:p>
          <a:p>
            <a:r>
              <a:rPr lang="en-US" sz="800" dirty="0">
                <a:latin typeface="Bahnschrift" panose="020B0502040204020203" pitchFamily="34" charset="0"/>
              </a:rPr>
              <a:t>GrLivArea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/>
          </a:p>
          <a:p>
            <a:r>
              <a:rPr lang="en-US" sz="800" dirty="0">
                <a:latin typeface="Bahnschrift" panose="020B0502040204020203" pitchFamily="34" charset="0"/>
              </a:rPr>
              <a:t>GarageCars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/>
          </a:p>
          <a:p>
            <a:r>
              <a:rPr lang="en-US" sz="800" dirty="0">
                <a:latin typeface="Bahnschrift" panose="020B0502040204020203" pitchFamily="34" charset="0"/>
              </a:rPr>
              <a:t>Garage</a:t>
            </a:r>
            <a:r>
              <a:rPr lang="en-US" sz="800" dirty="0"/>
              <a:t> </a:t>
            </a:r>
            <a:r>
              <a:rPr lang="en-US" sz="800" dirty="0">
                <a:latin typeface="Bahnschrift" panose="020B0502040204020203" pitchFamily="34" charset="0"/>
              </a:rPr>
              <a:t>Area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/>
          </a:p>
          <a:p>
            <a:r>
              <a:rPr lang="en-US" sz="800" dirty="0">
                <a:latin typeface="Bahnschrift" panose="020B0502040204020203" pitchFamily="34" charset="0"/>
              </a:rPr>
              <a:t>YearBuilt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/>
          </a:p>
          <a:p>
            <a:r>
              <a:rPr lang="en-US" sz="800" dirty="0">
                <a:latin typeface="Bahnschrift" panose="020B0502040204020203" pitchFamily="34" charset="0"/>
              </a:rPr>
              <a:t>TotalBsmtSF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en-US" sz="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A16BA2-AFC4-46E6-AF3C-771B15035D39}"/>
              </a:ext>
            </a:extLst>
          </p:cNvPr>
          <p:cNvSpPr txBox="1"/>
          <p:nvPr/>
        </p:nvSpPr>
        <p:spPr>
          <a:xfrm>
            <a:off x="365760" y="2692535"/>
            <a:ext cx="42914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Bahnschrift" panose="020B0502040204020203" pitchFamily="34" charset="0"/>
              </a:rPr>
              <a:t>0.79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>
              <a:latin typeface="Bahnschrift" panose="020B0502040204020203" pitchFamily="34" charset="0"/>
            </a:endParaRPr>
          </a:p>
          <a:p>
            <a:r>
              <a:rPr lang="en-US" sz="800" dirty="0">
                <a:latin typeface="Bahnschrift" panose="020B0502040204020203" pitchFamily="34" charset="0"/>
              </a:rPr>
              <a:t>0.68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>
              <a:latin typeface="Bahnschrift" panose="020B0502040204020203" pitchFamily="34" charset="0"/>
            </a:endParaRPr>
          </a:p>
          <a:p>
            <a:r>
              <a:rPr lang="en-US" sz="800" dirty="0">
                <a:latin typeface="Bahnschrift" panose="020B0502040204020203" pitchFamily="34" charset="0"/>
              </a:rPr>
              <a:t>0.63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>
              <a:latin typeface="Bahnschrift" panose="020B0502040204020203" pitchFamily="34" charset="0"/>
            </a:endParaRPr>
          </a:p>
          <a:p>
            <a:r>
              <a:rPr lang="en-US" sz="800" dirty="0">
                <a:latin typeface="Bahnschrift" panose="020B0502040204020203" pitchFamily="34" charset="0"/>
              </a:rPr>
              <a:t>0.61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>
              <a:latin typeface="Bahnschrift" panose="020B0502040204020203" pitchFamily="34" charset="0"/>
            </a:endParaRPr>
          </a:p>
          <a:p>
            <a:r>
              <a:rPr lang="en-US" sz="800" dirty="0">
                <a:latin typeface="Bahnschrift" panose="020B0502040204020203" pitchFamily="34" charset="0"/>
              </a:rPr>
              <a:t>0.59</a:t>
            </a:r>
            <a:endParaRPr lang="fa-IR" sz="800" dirty="0">
              <a:latin typeface="Bahnschrift" panose="020B0502040204020203" pitchFamily="34" charset="0"/>
            </a:endParaRPr>
          </a:p>
          <a:p>
            <a:endParaRPr lang="fa-IR" sz="800" dirty="0">
              <a:latin typeface="Bahnschrift" panose="020B0502040204020203" pitchFamily="34" charset="0"/>
            </a:endParaRPr>
          </a:p>
          <a:p>
            <a:r>
              <a:rPr lang="en-US" sz="800" dirty="0">
                <a:latin typeface="Bahnschrift" panose="020B0502040204020203" pitchFamily="34" charset="0"/>
              </a:rPr>
              <a:t>0.58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FE1598-DC9D-4994-87CF-EBF3A0C85EEC}"/>
              </a:ext>
            </a:extLst>
          </p:cNvPr>
          <p:cNvSpPr txBox="1"/>
          <p:nvPr/>
        </p:nvSpPr>
        <p:spPr>
          <a:xfrm>
            <a:off x="10821466" y="2372587"/>
            <a:ext cx="2032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i="0" dirty="0">
                <a:solidFill>
                  <a:srgbClr val="F3ECDE"/>
                </a:solidFill>
                <a:effectLst/>
                <a:latin typeface="Vazirmatn"/>
                <a:cs typeface="B Titr" panose="00000700000000000000" pitchFamily="2" charset="-78"/>
              </a:rPr>
              <a:t>📊</a:t>
            </a:r>
            <a:r>
              <a:rPr lang="fa-IR" sz="1100" dirty="0">
                <a:latin typeface="Adobe Arabic" panose="02040703060201020203" pitchFamily="18" charset="-78"/>
                <a:cs typeface="B Titr" panose="00000700000000000000" pitchFamily="2" charset="-78"/>
              </a:rPr>
              <a:t>توزیع قیمت – بعد از پاکسازی</a:t>
            </a:r>
            <a:endParaRPr lang="en-US" sz="1100" i="0" dirty="0">
              <a:solidFill>
                <a:srgbClr val="F3ECDE"/>
              </a:solidFill>
              <a:effectLst/>
              <a:latin typeface="Vazirmatn"/>
              <a:cs typeface="B Titr" panose="00000700000000000000" pitchFamily="2" charset="-78"/>
            </a:endParaRPr>
          </a:p>
        </p:txBody>
      </p:sp>
      <p:sp>
        <p:nvSpPr>
          <p:cNvPr id="59" name="Rectangle: Top Corners Rounded 58">
            <a:extLst>
              <a:ext uri="{FF2B5EF4-FFF2-40B4-BE49-F238E27FC236}">
                <a16:creationId xmlns:a16="http://schemas.microsoft.com/office/drawing/2014/main" id="{55388D48-997D-45EC-969C-B3B3A414345A}"/>
              </a:ext>
            </a:extLst>
          </p:cNvPr>
          <p:cNvSpPr/>
          <p:nvPr/>
        </p:nvSpPr>
        <p:spPr>
          <a:xfrm>
            <a:off x="7894263" y="3906435"/>
            <a:ext cx="457200" cy="85296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6C78A554-4676-43F6-973B-78C85EBD068F}"/>
              </a:ext>
            </a:extLst>
          </p:cNvPr>
          <p:cNvSpPr/>
          <p:nvPr/>
        </p:nvSpPr>
        <p:spPr>
          <a:xfrm>
            <a:off x="7070282" y="3946012"/>
            <a:ext cx="457200" cy="45719"/>
          </a:xfrm>
          <a:prstGeom prst="mathMinus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6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Minus Sign 45">
            <a:extLst>
              <a:ext uri="{FF2B5EF4-FFF2-40B4-BE49-F238E27FC236}">
                <a16:creationId xmlns:a16="http://schemas.microsoft.com/office/drawing/2014/main" id="{1D29AECB-2378-4FF8-A692-E0C20AC8FB15}"/>
              </a:ext>
            </a:extLst>
          </p:cNvPr>
          <p:cNvSpPr/>
          <p:nvPr/>
        </p:nvSpPr>
        <p:spPr>
          <a:xfrm>
            <a:off x="7465812" y="3862544"/>
            <a:ext cx="457200" cy="203271"/>
          </a:xfrm>
          <a:prstGeom prst="mathMinus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0000">
                <a:schemeClr val="accent6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17E645B1-C899-4A25-9135-F0A23F07FFA2}"/>
              </a:ext>
            </a:extLst>
          </p:cNvPr>
          <p:cNvSpPr/>
          <p:nvPr/>
        </p:nvSpPr>
        <p:spPr>
          <a:xfrm>
            <a:off x="8388658" y="3809380"/>
            <a:ext cx="457200" cy="184081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BBF05B39-1B02-4D7B-AB14-B2B7F283FFE6}"/>
              </a:ext>
            </a:extLst>
          </p:cNvPr>
          <p:cNvSpPr/>
          <p:nvPr/>
        </p:nvSpPr>
        <p:spPr>
          <a:xfrm>
            <a:off x="8882785" y="3667054"/>
            <a:ext cx="457200" cy="331422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0AFB5E04-10F0-4110-8E93-3071F2C0131E}"/>
              </a:ext>
            </a:extLst>
          </p:cNvPr>
          <p:cNvSpPr/>
          <p:nvPr/>
        </p:nvSpPr>
        <p:spPr>
          <a:xfrm>
            <a:off x="9376012" y="3528882"/>
            <a:ext cx="457200" cy="464579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F2FD3B17-A604-42EE-A0BC-1F7B81995377}"/>
              </a:ext>
            </a:extLst>
          </p:cNvPr>
          <p:cNvSpPr/>
          <p:nvPr/>
        </p:nvSpPr>
        <p:spPr>
          <a:xfrm>
            <a:off x="9865642" y="3279887"/>
            <a:ext cx="457200" cy="711844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38B3D5FB-1BEC-4C99-A559-B5772CC2E262}"/>
              </a:ext>
            </a:extLst>
          </p:cNvPr>
          <p:cNvSpPr/>
          <p:nvPr/>
        </p:nvSpPr>
        <p:spPr>
          <a:xfrm>
            <a:off x="10365980" y="2942245"/>
            <a:ext cx="457200" cy="1049099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: Top Corners Rounded 59">
            <a:extLst>
              <a:ext uri="{FF2B5EF4-FFF2-40B4-BE49-F238E27FC236}">
                <a16:creationId xmlns:a16="http://schemas.microsoft.com/office/drawing/2014/main" id="{D328C710-915D-47AE-934A-89F8243BFDA2}"/>
              </a:ext>
            </a:extLst>
          </p:cNvPr>
          <p:cNvSpPr/>
          <p:nvPr/>
        </p:nvSpPr>
        <p:spPr>
          <a:xfrm>
            <a:off x="10867875" y="3003826"/>
            <a:ext cx="457200" cy="987131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Top Corners Rounded 63">
            <a:extLst>
              <a:ext uri="{FF2B5EF4-FFF2-40B4-BE49-F238E27FC236}">
                <a16:creationId xmlns:a16="http://schemas.microsoft.com/office/drawing/2014/main" id="{C854A4A7-3104-454F-9D93-CF0496FCF586}"/>
              </a:ext>
            </a:extLst>
          </p:cNvPr>
          <p:cNvSpPr/>
          <p:nvPr/>
        </p:nvSpPr>
        <p:spPr>
          <a:xfrm>
            <a:off x="11363733" y="3285112"/>
            <a:ext cx="457200" cy="705845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413E49A6-4214-47F3-BB68-FB8F249B6D0D}"/>
              </a:ext>
            </a:extLst>
          </p:cNvPr>
          <p:cNvSpPr/>
          <p:nvPr/>
        </p:nvSpPr>
        <p:spPr>
          <a:xfrm>
            <a:off x="11859591" y="3599359"/>
            <a:ext cx="457200" cy="391598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: Top Corners Rounded 65">
            <a:extLst>
              <a:ext uri="{FF2B5EF4-FFF2-40B4-BE49-F238E27FC236}">
                <a16:creationId xmlns:a16="http://schemas.microsoft.com/office/drawing/2014/main" id="{83A13997-6E55-4B22-BBE9-1E4EA15644D9}"/>
              </a:ext>
            </a:extLst>
          </p:cNvPr>
          <p:cNvSpPr/>
          <p:nvPr/>
        </p:nvSpPr>
        <p:spPr>
          <a:xfrm>
            <a:off x="12351395" y="3795158"/>
            <a:ext cx="457200" cy="191170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366C66A-8BDE-447F-A89A-9FFB3BC7BD7B}"/>
              </a:ext>
            </a:extLst>
          </p:cNvPr>
          <p:cNvSpPr/>
          <p:nvPr/>
        </p:nvSpPr>
        <p:spPr>
          <a:xfrm>
            <a:off x="11820933" y="4124837"/>
            <a:ext cx="755284" cy="191170"/>
          </a:xfrm>
          <a:prstGeom prst="roundRect">
            <a:avLst/>
          </a:prstGeom>
          <a:solidFill>
            <a:srgbClr val="EE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050" dirty="0" err="1">
                <a:solidFill>
                  <a:srgbClr val="6C8062"/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</a:rPr>
              <a:t>چولگی</a:t>
            </a:r>
            <a:r>
              <a:rPr lang="fa-IR" sz="700" dirty="0">
                <a:solidFill>
                  <a:srgbClr val="6C806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Titr" panose="00000700000000000000" pitchFamily="2" charset="-78"/>
              </a:rPr>
              <a:t> </a:t>
            </a:r>
            <a:r>
              <a:rPr lang="en-US" sz="700" b="1" dirty="0">
                <a:solidFill>
                  <a:srgbClr val="6C806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Titr" panose="00000700000000000000" pitchFamily="2" charset="-78"/>
              </a:rPr>
              <a:t>0.64</a:t>
            </a:r>
            <a:r>
              <a:rPr lang="en-US" sz="700" dirty="0">
                <a:solidFill>
                  <a:srgbClr val="6C806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B Titr" panose="00000700000000000000" pitchFamily="2" charset="-78"/>
              </a:rPr>
              <a:t> </a:t>
            </a:r>
          </a:p>
        </p:txBody>
      </p:sp>
      <p:sp>
        <p:nvSpPr>
          <p:cNvPr id="68" name="Minus Sign 67">
            <a:extLst>
              <a:ext uri="{FF2B5EF4-FFF2-40B4-BE49-F238E27FC236}">
                <a16:creationId xmlns:a16="http://schemas.microsoft.com/office/drawing/2014/main" id="{52FB3218-6C88-47A1-A9D2-8D6754B8B00A}"/>
              </a:ext>
            </a:extLst>
          </p:cNvPr>
          <p:cNvSpPr/>
          <p:nvPr/>
        </p:nvSpPr>
        <p:spPr>
          <a:xfrm>
            <a:off x="13156091" y="3940315"/>
            <a:ext cx="457200" cy="45719"/>
          </a:xfrm>
          <a:prstGeom prst="mathMinus">
            <a:avLst/>
          </a:prstGeom>
          <a:ln>
            <a:gradFill>
              <a:gsLst>
                <a:gs pos="40000">
                  <a:schemeClr val="accent5">
                    <a:lumMod val="75000"/>
                  </a:schemeClr>
                </a:gs>
                <a:gs pos="100000">
                  <a:schemeClr val="accent6">
                    <a:lumMod val="12000"/>
                    <a:lumOff val="88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inus Sign 68">
            <a:extLst>
              <a:ext uri="{FF2B5EF4-FFF2-40B4-BE49-F238E27FC236}">
                <a16:creationId xmlns:a16="http://schemas.microsoft.com/office/drawing/2014/main" id="{BFE842DB-57E8-4A4C-BA79-A7834DD3D314}"/>
              </a:ext>
            </a:extLst>
          </p:cNvPr>
          <p:cNvSpPr/>
          <p:nvPr/>
        </p:nvSpPr>
        <p:spPr>
          <a:xfrm>
            <a:off x="13523080" y="3853262"/>
            <a:ext cx="457200" cy="203271"/>
          </a:xfrm>
          <a:prstGeom prst="mathMinus">
            <a:avLst/>
          </a:prstGeom>
          <a:gradFill>
            <a:gsLst>
              <a:gs pos="43000">
                <a:schemeClr val="accent5">
                  <a:lumMod val="64000"/>
                  <a:lumOff val="36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: Top Corners Rounded 69">
            <a:extLst>
              <a:ext uri="{FF2B5EF4-FFF2-40B4-BE49-F238E27FC236}">
                <a16:creationId xmlns:a16="http://schemas.microsoft.com/office/drawing/2014/main" id="{9C9DB196-27D4-4A71-AC2F-02800BE4B455}"/>
              </a:ext>
            </a:extLst>
          </p:cNvPr>
          <p:cNvSpPr/>
          <p:nvPr/>
        </p:nvSpPr>
        <p:spPr>
          <a:xfrm>
            <a:off x="13942197" y="3901126"/>
            <a:ext cx="457200" cy="85296"/>
          </a:xfrm>
          <a:prstGeom prst="round2SameRect">
            <a:avLst/>
          </a:prstGeom>
          <a:gradFill>
            <a:gsLst>
              <a:gs pos="97000">
                <a:schemeClr val="accent5">
                  <a:lumMod val="75000"/>
                </a:schemeClr>
              </a:gs>
              <a:gs pos="97336">
                <a:srgbClr val="3D7FBB"/>
              </a:gs>
              <a:gs pos="20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: Top Corners Rounded 70">
            <a:extLst>
              <a:ext uri="{FF2B5EF4-FFF2-40B4-BE49-F238E27FC236}">
                <a16:creationId xmlns:a16="http://schemas.microsoft.com/office/drawing/2014/main" id="{8E95E37C-0326-46D7-949D-184D748DFD2C}"/>
              </a:ext>
            </a:extLst>
          </p:cNvPr>
          <p:cNvSpPr/>
          <p:nvPr/>
        </p:nvSpPr>
        <p:spPr>
          <a:xfrm>
            <a:off x="14422549" y="3809380"/>
            <a:ext cx="457200" cy="179024"/>
          </a:xfrm>
          <a:prstGeom prst="round2SameRect">
            <a:avLst/>
          </a:prstGeom>
          <a:gradFill>
            <a:gsLst>
              <a:gs pos="100000">
                <a:schemeClr val="accent5">
                  <a:lumMod val="15000"/>
                  <a:lumOff val="85000"/>
                </a:schemeClr>
              </a:gs>
              <a:gs pos="23000">
                <a:schemeClr val="accent5">
                  <a:lumMod val="96000"/>
                  <a:lumOff val="4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99817311-EF0C-48A9-8D0E-EF573502BA3B}"/>
              </a:ext>
            </a:extLst>
          </p:cNvPr>
          <p:cNvSpPr/>
          <p:nvPr/>
        </p:nvSpPr>
        <p:spPr>
          <a:xfrm>
            <a:off x="14906044" y="3719512"/>
            <a:ext cx="457200" cy="266521"/>
          </a:xfrm>
          <a:prstGeom prst="round2SameRect">
            <a:avLst/>
          </a:prstGeom>
          <a:gradFill>
            <a:gsLst>
              <a:gs pos="85000">
                <a:schemeClr val="accent5">
                  <a:lumMod val="75000"/>
                </a:schemeClr>
              </a:gs>
              <a:gs pos="9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: Top Corners Rounded 72">
            <a:extLst>
              <a:ext uri="{FF2B5EF4-FFF2-40B4-BE49-F238E27FC236}">
                <a16:creationId xmlns:a16="http://schemas.microsoft.com/office/drawing/2014/main" id="{9BD0528D-8883-45DC-B851-BE6B21803A15}"/>
              </a:ext>
            </a:extLst>
          </p:cNvPr>
          <p:cNvSpPr/>
          <p:nvPr/>
        </p:nvSpPr>
        <p:spPr>
          <a:xfrm>
            <a:off x="15390962" y="3571060"/>
            <a:ext cx="457200" cy="414974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86453BB3-AF66-43E0-B7C8-57AFEE4B111F}"/>
              </a:ext>
            </a:extLst>
          </p:cNvPr>
          <p:cNvSpPr/>
          <p:nvPr/>
        </p:nvSpPr>
        <p:spPr>
          <a:xfrm>
            <a:off x="15879225" y="3356679"/>
            <a:ext cx="457200" cy="626964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Top Corners Rounded 74">
            <a:extLst>
              <a:ext uri="{FF2B5EF4-FFF2-40B4-BE49-F238E27FC236}">
                <a16:creationId xmlns:a16="http://schemas.microsoft.com/office/drawing/2014/main" id="{49B77175-E2C6-4665-A41A-EE7564126465}"/>
              </a:ext>
            </a:extLst>
          </p:cNvPr>
          <p:cNvSpPr/>
          <p:nvPr/>
        </p:nvSpPr>
        <p:spPr>
          <a:xfrm>
            <a:off x="16358881" y="3003826"/>
            <a:ext cx="457200" cy="971906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Top Corners Rounded 75">
            <a:extLst>
              <a:ext uri="{FF2B5EF4-FFF2-40B4-BE49-F238E27FC236}">
                <a16:creationId xmlns:a16="http://schemas.microsoft.com/office/drawing/2014/main" id="{6DB54F58-468A-48EB-A61A-C9FD41EF14E9}"/>
              </a:ext>
            </a:extLst>
          </p:cNvPr>
          <p:cNvSpPr/>
          <p:nvPr/>
        </p:nvSpPr>
        <p:spPr>
          <a:xfrm>
            <a:off x="16849252" y="2847975"/>
            <a:ext cx="457200" cy="1125722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: Top Corners Rounded 76">
            <a:extLst>
              <a:ext uri="{FF2B5EF4-FFF2-40B4-BE49-F238E27FC236}">
                <a16:creationId xmlns:a16="http://schemas.microsoft.com/office/drawing/2014/main" id="{B0164B8F-AF13-4290-B1D8-9E063EE22E75}"/>
              </a:ext>
            </a:extLst>
          </p:cNvPr>
          <p:cNvSpPr/>
          <p:nvPr/>
        </p:nvSpPr>
        <p:spPr>
          <a:xfrm>
            <a:off x="17340016" y="3081339"/>
            <a:ext cx="457200" cy="881836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18E6388F-4D8C-4940-92C2-EAD232DE861A}"/>
              </a:ext>
            </a:extLst>
          </p:cNvPr>
          <p:cNvSpPr/>
          <p:nvPr/>
        </p:nvSpPr>
        <p:spPr>
          <a:xfrm>
            <a:off x="17823511" y="3467100"/>
            <a:ext cx="457200" cy="495558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: Top Corners Rounded 78">
            <a:extLst>
              <a:ext uri="{FF2B5EF4-FFF2-40B4-BE49-F238E27FC236}">
                <a16:creationId xmlns:a16="http://schemas.microsoft.com/office/drawing/2014/main" id="{43E30DD3-53F6-4DAD-8B1E-B0C3E6959E0B}"/>
              </a:ext>
            </a:extLst>
          </p:cNvPr>
          <p:cNvSpPr/>
          <p:nvPr/>
        </p:nvSpPr>
        <p:spPr>
          <a:xfrm>
            <a:off x="18307006" y="3795157"/>
            <a:ext cx="457200" cy="157183"/>
          </a:xfrm>
          <a:prstGeom prst="round2SameRect">
            <a:avLst/>
          </a:prstGeom>
          <a:gradFill>
            <a:gsLst>
              <a:gs pos="95000">
                <a:schemeClr val="accent5">
                  <a:lumMod val="75000"/>
                </a:schemeClr>
              </a:gs>
              <a:gs pos="17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AE3E60-3B09-4217-A2A0-C22B5170EDFC}"/>
              </a:ext>
            </a:extLst>
          </p:cNvPr>
          <p:cNvSpPr/>
          <p:nvPr/>
        </p:nvSpPr>
        <p:spPr>
          <a:xfrm>
            <a:off x="17753955" y="4124837"/>
            <a:ext cx="681990" cy="191170"/>
          </a:xfrm>
          <a:prstGeom prst="roundRect">
            <a:avLst/>
          </a:prstGeom>
          <a:solidFill>
            <a:srgbClr val="EBE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050" dirty="0" err="1">
                <a:solidFill>
                  <a:srgbClr val="495E75"/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چولگی</a:t>
            </a:r>
            <a:r>
              <a:rPr lang="fa-IR" sz="700" dirty="0">
                <a:solidFill>
                  <a:srgbClr val="495E75"/>
                </a:solidFill>
              </a:rPr>
              <a:t> </a:t>
            </a:r>
            <a:r>
              <a:rPr lang="fa-IR" sz="700" b="1" dirty="0">
                <a:solidFill>
                  <a:srgbClr val="495E7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1.88</a:t>
            </a:r>
            <a:endParaRPr lang="en-US" sz="700" b="1" dirty="0">
              <a:solidFill>
                <a:srgbClr val="495E75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78E007-CDF3-4A89-8037-C669C97967B9}"/>
              </a:ext>
            </a:extLst>
          </p:cNvPr>
          <p:cNvSpPr txBox="1"/>
          <p:nvPr/>
        </p:nvSpPr>
        <p:spPr>
          <a:xfrm>
            <a:off x="17041810" y="2372587"/>
            <a:ext cx="168270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F3ECDE"/>
                </a:solidFill>
                <a:effectLst/>
                <a:latin typeface="Vazirmatn"/>
              </a:rPr>
              <a:t>📊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توزیع قیمت - قبل</a:t>
            </a:r>
          </a:p>
          <a:p>
            <a:br>
              <a:rPr lang="fa-IR" dirty="0"/>
            </a:b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C5F169-34E7-4301-B90E-63477D775307}"/>
              </a:ext>
            </a:extLst>
          </p:cNvPr>
          <p:cNvSpPr txBox="1"/>
          <p:nvPr/>
        </p:nvSpPr>
        <p:spPr>
          <a:xfrm>
            <a:off x="7055417" y="3993169"/>
            <a:ext cx="61215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94A3B8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$320K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58F1CD-99E1-4CDC-BA81-B59E3191C1C2}"/>
              </a:ext>
            </a:extLst>
          </p:cNvPr>
          <p:cNvSpPr txBox="1"/>
          <p:nvPr/>
        </p:nvSpPr>
        <p:spPr>
          <a:xfrm>
            <a:off x="12544910" y="3973697"/>
            <a:ext cx="4208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94A3B8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$50K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ECD719-7141-4AE1-9122-1B0B09784B78}"/>
              </a:ext>
            </a:extLst>
          </p:cNvPr>
          <p:cNvSpPr txBox="1"/>
          <p:nvPr/>
        </p:nvSpPr>
        <p:spPr>
          <a:xfrm>
            <a:off x="13156091" y="3973059"/>
            <a:ext cx="8286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94A3B8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$750K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956C31C-1C21-42E2-99DA-7F282383A4EA}"/>
              </a:ext>
            </a:extLst>
          </p:cNvPr>
          <p:cNvSpPr txBox="1"/>
          <p:nvPr/>
        </p:nvSpPr>
        <p:spPr>
          <a:xfrm>
            <a:off x="18578619" y="3943774"/>
            <a:ext cx="323850" cy="2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94A3B8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$0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817DDD19-924A-4DA3-B66A-D84577AA5817}"/>
              </a:ext>
            </a:extLst>
          </p:cNvPr>
          <p:cNvSpPr/>
          <p:nvPr/>
        </p:nvSpPr>
        <p:spPr>
          <a:xfrm>
            <a:off x="11269980" y="4448321"/>
            <a:ext cx="7632489" cy="1885283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: Top Corners Rounded 85">
            <a:extLst>
              <a:ext uri="{FF2B5EF4-FFF2-40B4-BE49-F238E27FC236}">
                <a16:creationId xmlns:a16="http://schemas.microsoft.com/office/drawing/2014/main" id="{CA0FB474-557F-4C39-8756-60A10D96217C}"/>
              </a:ext>
            </a:extLst>
          </p:cNvPr>
          <p:cNvSpPr/>
          <p:nvPr/>
        </p:nvSpPr>
        <p:spPr>
          <a:xfrm>
            <a:off x="11439031" y="4956119"/>
            <a:ext cx="693300" cy="1227459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: Top Corners Rounded 86">
            <a:extLst>
              <a:ext uri="{FF2B5EF4-FFF2-40B4-BE49-F238E27FC236}">
                <a16:creationId xmlns:a16="http://schemas.microsoft.com/office/drawing/2014/main" id="{E6C7A4B2-8E47-44DD-AB93-1D13BDCFC89B}"/>
              </a:ext>
            </a:extLst>
          </p:cNvPr>
          <p:cNvSpPr/>
          <p:nvPr/>
        </p:nvSpPr>
        <p:spPr>
          <a:xfrm>
            <a:off x="12178350" y="5147289"/>
            <a:ext cx="693300" cy="1022456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: Top Corners Rounded 87">
            <a:extLst>
              <a:ext uri="{FF2B5EF4-FFF2-40B4-BE49-F238E27FC236}">
                <a16:creationId xmlns:a16="http://schemas.microsoft.com/office/drawing/2014/main" id="{E82278B5-88E3-400E-8D0E-B8439434F9F1}"/>
              </a:ext>
            </a:extLst>
          </p:cNvPr>
          <p:cNvSpPr/>
          <p:nvPr/>
        </p:nvSpPr>
        <p:spPr>
          <a:xfrm>
            <a:off x="12917669" y="5265420"/>
            <a:ext cx="693300" cy="904325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: Top Corners Rounded 88">
            <a:extLst>
              <a:ext uri="{FF2B5EF4-FFF2-40B4-BE49-F238E27FC236}">
                <a16:creationId xmlns:a16="http://schemas.microsoft.com/office/drawing/2014/main" id="{30DD99BC-0ED3-4A4D-B7FB-9B955BEA7715}"/>
              </a:ext>
            </a:extLst>
          </p:cNvPr>
          <p:cNvSpPr/>
          <p:nvPr/>
        </p:nvSpPr>
        <p:spPr>
          <a:xfrm>
            <a:off x="18046381" y="5978423"/>
            <a:ext cx="693300" cy="172453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: Top Corners Rounded 89">
            <a:extLst>
              <a:ext uri="{FF2B5EF4-FFF2-40B4-BE49-F238E27FC236}">
                <a16:creationId xmlns:a16="http://schemas.microsoft.com/office/drawing/2014/main" id="{132C1F6D-06F7-4E17-922A-A06C36B26328}"/>
              </a:ext>
            </a:extLst>
          </p:cNvPr>
          <p:cNvSpPr/>
          <p:nvPr/>
        </p:nvSpPr>
        <p:spPr>
          <a:xfrm>
            <a:off x="17306452" y="5913435"/>
            <a:ext cx="693300" cy="246348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: Top Corners Rounded 90">
            <a:extLst>
              <a:ext uri="{FF2B5EF4-FFF2-40B4-BE49-F238E27FC236}">
                <a16:creationId xmlns:a16="http://schemas.microsoft.com/office/drawing/2014/main" id="{6ADFD4A5-CAF7-47C0-881F-D25630FC144C}"/>
              </a:ext>
            </a:extLst>
          </p:cNvPr>
          <p:cNvSpPr/>
          <p:nvPr/>
        </p:nvSpPr>
        <p:spPr>
          <a:xfrm>
            <a:off x="16582038" y="5805333"/>
            <a:ext cx="693300" cy="360519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: Top Corners Rounded 91">
            <a:extLst>
              <a:ext uri="{FF2B5EF4-FFF2-40B4-BE49-F238E27FC236}">
                <a16:creationId xmlns:a16="http://schemas.microsoft.com/office/drawing/2014/main" id="{F27B6233-CCF1-4BBE-9B97-31EA926F8AC3}"/>
              </a:ext>
            </a:extLst>
          </p:cNvPr>
          <p:cNvSpPr/>
          <p:nvPr/>
        </p:nvSpPr>
        <p:spPr>
          <a:xfrm>
            <a:off x="15848162" y="5717582"/>
            <a:ext cx="693300" cy="446374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: Top Corners Rounded 92">
            <a:extLst>
              <a:ext uri="{FF2B5EF4-FFF2-40B4-BE49-F238E27FC236}">
                <a16:creationId xmlns:a16="http://schemas.microsoft.com/office/drawing/2014/main" id="{C1C78FC1-D671-49D8-804C-E18E27838247}"/>
              </a:ext>
            </a:extLst>
          </p:cNvPr>
          <p:cNvSpPr/>
          <p:nvPr/>
        </p:nvSpPr>
        <p:spPr>
          <a:xfrm>
            <a:off x="15126031" y="5638144"/>
            <a:ext cx="693300" cy="537814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: Top Corners Rounded 93">
            <a:extLst>
              <a:ext uri="{FF2B5EF4-FFF2-40B4-BE49-F238E27FC236}">
                <a16:creationId xmlns:a16="http://schemas.microsoft.com/office/drawing/2014/main" id="{5AA9CB2A-BA45-47EB-9FA6-2EB71307E726}"/>
              </a:ext>
            </a:extLst>
          </p:cNvPr>
          <p:cNvSpPr/>
          <p:nvPr/>
        </p:nvSpPr>
        <p:spPr>
          <a:xfrm>
            <a:off x="14386712" y="5554693"/>
            <a:ext cx="693300" cy="615051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: Top Corners Rounded 94">
            <a:extLst>
              <a:ext uri="{FF2B5EF4-FFF2-40B4-BE49-F238E27FC236}">
                <a16:creationId xmlns:a16="http://schemas.microsoft.com/office/drawing/2014/main" id="{6C7D2AA2-C047-4036-935E-2C17522B63F7}"/>
              </a:ext>
            </a:extLst>
          </p:cNvPr>
          <p:cNvSpPr/>
          <p:nvPr/>
        </p:nvSpPr>
        <p:spPr>
          <a:xfrm>
            <a:off x="13656566" y="5437503"/>
            <a:ext cx="693300" cy="732242"/>
          </a:xfrm>
          <a:prstGeom prst="round2SameRect">
            <a:avLst/>
          </a:prstGeom>
          <a:gradFill>
            <a:gsLst>
              <a:gs pos="65000">
                <a:schemeClr val="accent2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791588-DA61-464B-B924-805D55B1F0A3}"/>
              </a:ext>
            </a:extLst>
          </p:cNvPr>
          <p:cNvSpPr txBox="1"/>
          <p:nvPr/>
        </p:nvSpPr>
        <p:spPr>
          <a:xfrm>
            <a:off x="11629471" y="6158564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76E0A27-827E-4433-A199-220824B5B2F3}"/>
              </a:ext>
            </a:extLst>
          </p:cNvPr>
          <p:cNvSpPr txBox="1"/>
          <p:nvPr/>
        </p:nvSpPr>
        <p:spPr>
          <a:xfrm>
            <a:off x="12388700" y="6151647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6FFBFC1-1D5D-41FD-B64C-AF108A853AB5}"/>
              </a:ext>
            </a:extLst>
          </p:cNvPr>
          <p:cNvSpPr txBox="1"/>
          <p:nvPr/>
        </p:nvSpPr>
        <p:spPr>
          <a:xfrm>
            <a:off x="13160292" y="6151646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2B5A206-1C80-4920-A301-1BD91D16961D}"/>
              </a:ext>
            </a:extLst>
          </p:cNvPr>
          <p:cNvSpPr txBox="1"/>
          <p:nvPr/>
        </p:nvSpPr>
        <p:spPr>
          <a:xfrm>
            <a:off x="13877881" y="6150876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7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28985-6AD5-4DF0-A4BE-C3101A6B0445}"/>
              </a:ext>
            </a:extLst>
          </p:cNvPr>
          <p:cNvSpPr txBox="1"/>
          <p:nvPr/>
        </p:nvSpPr>
        <p:spPr>
          <a:xfrm>
            <a:off x="14645189" y="6150876"/>
            <a:ext cx="1763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6ED9EE-2FAE-4954-BF59-4E09BFF51213}"/>
              </a:ext>
            </a:extLst>
          </p:cNvPr>
          <p:cNvSpPr txBox="1"/>
          <p:nvPr/>
        </p:nvSpPr>
        <p:spPr>
          <a:xfrm>
            <a:off x="15323647" y="6150876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24D9C5-5149-46EC-B998-84A0439B5541}"/>
              </a:ext>
            </a:extLst>
          </p:cNvPr>
          <p:cNvSpPr txBox="1"/>
          <p:nvPr/>
        </p:nvSpPr>
        <p:spPr>
          <a:xfrm>
            <a:off x="16041424" y="6140582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DF3CF3C-1216-4AC6-AE86-9D027662A8FB}"/>
              </a:ext>
            </a:extLst>
          </p:cNvPr>
          <p:cNvSpPr txBox="1"/>
          <p:nvPr/>
        </p:nvSpPr>
        <p:spPr>
          <a:xfrm>
            <a:off x="16726006" y="6133549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82330DB-E0DE-4081-A330-0E6F11A306EF}"/>
              </a:ext>
            </a:extLst>
          </p:cNvPr>
          <p:cNvSpPr txBox="1"/>
          <p:nvPr/>
        </p:nvSpPr>
        <p:spPr>
          <a:xfrm>
            <a:off x="17511091" y="6140581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AC940E-DE47-4C5E-9E2B-9463A99F3443}"/>
              </a:ext>
            </a:extLst>
          </p:cNvPr>
          <p:cNvSpPr txBox="1"/>
          <p:nvPr/>
        </p:nvSpPr>
        <p:spPr>
          <a:xfrm>
            <a:off x="18236862" y="6124886"/>
            <a:ext cx="3124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17D49CB-B791-43D0-B379-636F43E261FA}"/>
              </a:ext>
            </a:extLst>
          </p:cNvPr>
          <p:cNvSpPr txBox="1"/>
          <p:nvPr/>
        </p:nvSpPr>
        <p:spPr>
          <a:xfrm>
            <a:off x="11316396" y="4446367"/>
            <a:ext cx="7717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000" dirty="0">
                <a:solidFill>
                  <a:schemeClr val="bg1">
                    <a:lumMod val="50000"/>
                  </a:schemeClr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</a:rPr>
              <a:t>رشد 6.2 برابری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dobe Arabic" panose="02040703060201020203" pitchFamily="18" charset="-7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F63922D-8DEA-44E3-A890-4B5E1AD47493}"/>
              </a:ext>
            </a:extLst>
          </p:cNvPr>
          <p:cNvSpPr txBox="1"/>
          <p:nvPr/>
        </p:nvSpPr>
        <p:spPr>
          <a:xfrm>
            <a:off x="11580108" y="4762878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432 k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6970826-3BA9-446B-A80D-0D1A8E0198F6}"/>
              </a:ext>
            </a:extLst>
          </p:cNvPr>
          <p:cNvSpPr txBox="1"/>
          <p:nvPr/>
        </p:nvSpPr>
        <p:spPr>
          <a:xfrm>
            <a:off x="12304085" y="4962933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345 k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8BA451-209D-437B-99F2-3E197BBD99B1}"/>
              </a:ext>
            </a:extLst>
          </p:cNvPr>
          <p:cNvSpPr txBox="1"/>
          <p:nvPr/>
        </p:nvSpPr>
        <p:spPr>
          <a:xfrm>
            <a:off x="13058019" y="5080370"/>
            <a:ext cx="54249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270 k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E353FA4-83AA-4F9D-9843-774905E3EBAE}"/>
              </a:ext>
            </a:extLst>
          </p:cNvPr>
          <p:cNvSpPr txBox="1"/>
          <p:nvPr/>
        </p:nvSpPr>
        <p:spPr>
          <a:xfrm>
            <a:off x="13797338" y="5280425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200 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ABD1670-2535-4345-A9A1-2F4FD391A619}"/>
              </a:ext>
            </a:extLst>
          </p:cNvPr>
          <p:cNvSpPr txBox="1"/>
          <p:nvPr/>
        </p:nvSpPr>
        <p:spPr>
          <a:xfrm>
            <a:off x="14510225" y="5397635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160 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388E43E-5839-479F-923B-0A665645A0A9}"/>
              </a:ext>
            </a:extLst>
          </p:cNvPr>
          <p:cNvSpPr txBox="1"/>
          <p:nvPr/>
        </p:nvSpPr>
        <p:spPr>
          <a:xfrm>
            <a:off x="15291261" y="5483994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133 k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86CEBF3-8F47-47EA-983D-5BFAFD9F9C94}"/>
              </a:ext>
            </a:extLst>
          </p:cNvPr>
          <p:cNvSpPr txBox="1"/>
          <p:nvPr/>
        </p:nvSpPr>
        <p:spPr>
          <a:xfrm>
            <a:off x="15972192" y="5554693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108 k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24DC9C4-EBE5-43C6-9D96-2EBEA97AD708}"/>
              </a:ext>
            </a:extLst>
          </p:cNvPr>
          <p:cNvSpPr txBox="1"/>
          <p:nvPr/>
        </p:nvSpPr>
        <p:spPr>
          <a:xfrm>
            <a:off x="16769339" y="5637581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86 k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FFE45AC-E1B2-4F84-AAFD-FBF5C9998CC2}"/>
              </a:ext>
            </a:extLst>
          </p:cNvPr>
          <p:cNvSpPr txBox="1"/>
          <p:nvPr/>
        </p:nvSpPr>
        <p:spPr>
          <a:xfrm>
            <a:off x="17491264" y="5740714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60 k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D5C8823-464F-408E-8AB8-A371BFEEF4C8}"/>
              </a:ext>
            </a:extLst>
          </p:cNvPr>
          <p:cNvSpPr txBox="1"/>
          <p:nvPr/>
        </p:nvSpPr>
        <p:spPr>
          <a:xfrm>
            <a:off x="18200850" y="5826038"/>
            <a:ext cx="4816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Yu Gothic" panose="020B0400000000000000" pitchFamily="34" charset="-128"/>
              </a:rPr>
              <a:t>50 k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FBF6102-0777-4A5B-945F-6A27C12AFAF1}"/>
              </a:ext>
            </a:extLst>
          </p:cNvPr>
          <p:cNvSpPr txBox="1"/>
          <p:nvPr/>
        </p:nvSpPr>
        <p:spPr>
          <a:xfrm>
            <a:off x="16041424" y="4496949"/>
            <a:ext cx="27227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F3ECDE"/>
                </a:solidFill>
                <a:effectLst/>
                <a:latin typeface="Vazirmatn"/>
              </a:rPr>
              <a:t>⭐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میانه‌</a:t>
            </a:r>
            <a:r>
              <a:rPr lang="en-US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 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ی قیمت بر اساس کیفیت کلی (۱ تا ۱۰)</a:t>
            </a:r>
            <a:endParaRPr lang="fa-IR" b="1" i="0" dirty="0">
              <a:solidFill>
                <a:srgbClr val="1E2A33"/>
              </a:solidFill>
              <a:effectLst/>
              <a:latin typeface="Vazirmatn"/>
              <a:cs typeface="B Titr" panose="00000700000000000000" pitchFamily="2" charset="-78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5A0F3B0F-4955-4ADD-9CFA-6BF6BD81E01D}"/>
              </a:ext>
            </a:extLst>
          </p:cNvPr>
          <p:cNvSpPr/>
          <p:nvPr/>
        </p:nvSpPr>
        <p:spPr>
          <a:xfrm>
            <a:off x="2914373" y="4453211"/>
            <a:ext cx="8309584" cy="1887425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15C692A-41A0-4AA6-BE9C-FC1EAC408A69}"/>
              </a:ext>
            </a:extLst>
          </p:cNvPr>
          <p:cNvSpPr/>
          <p:nvPr/>
        </p:nvSpPr>
        <p:spPr>
          <a:xfrm>
            <a:off x="4471877" y="6387725"/>
            <a:ext cx="4382436" cy="1957201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6539B3F-AE5D-466D-8556-2726EFFFD1C2}"/>
              </a:ext>
            </a:extLst>
          </p:cNvPr>
          <p:cNvSpPr/>
          <p:nvPr/>
        </p:nvSpPr>
        <p:spPr>
          <a:xfrm>
            <a:off x="8882785" y="6387726"/>
            <a:ext cx="10019685" cy="1957201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2656CC1-74FE-4C56-A9D5-6713ED9F9FD9}"/>
              </a:ext>
            </a:extLst>
          </p:cNvPr>
          <p:cNvSpPr txBox="1"/>
          <p:nvPr/>
        </p:nvSpPr>
        <p:spPr>
          <a:xfrm>
            <a:off x="1594335" y="4475466"/>
            <a:ext cx="95021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F3ECDE"/>
                </a:solidFill>
                <a:effectLst/>
                <a:latin typeface="Vazirmatn"/>
                <a:cs typeface="B Titr" panose="00000700000000000000" pitchFamily="2" charset="-78"/>
              </a:rPr>
              <a:t>📅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تعداد </a:t>
            </a:r>
            <a:r>
              <a:rPr lang="fa-IR" sz="1100" b="1" i="0" dirty="0" err="1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معاملات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 به تفکیک ماه فروش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910A99E-B849-41EA-B2BD-CF94A91B1806}"/>
              </a:ext>
            </a:extLst>
          </p:cNvPr>
          <p:cNvSpPr txBox="1"/>
          <p:nvPr/>
        </p:nvSpPr>
        <p:spPr>
          <a:xfrm>
            <a:off x="2968045" y="4457232"/>
            <a:ext cx="7810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50" dirty="0">
                <a:solidFill>
                  <a:schemeClr val="bg1">
                    <a:lumMod val="50000"/>
                  </a:schemeClr>
                </a:solidFill>
                <a:latin typeface="Adobe Arabic" panose="02040703060201020203" pitchFamily="18" charset="-78"/>
                <a:cs typeface="Adobe Arabic" panose="02040703060201020203" pitchFamily="18" charset="-78"/>
              </a:rPr>
              <a:t>فصلی بودن بازار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129" name="Rectangle: Top Corners Rounded 128">
            <a:extLst>
              <a:ext uri="{FF2B5EF4-FFF2-40B4-BE49-F238E27FC236}">
                <a16:creationId xmlns:a16="http://schemas.microsoft.com/office/drawing/2014/main" id="{1DC9E528-682A-4A42-8522-8A18C9B86295}"/>
              </a:ext>
            </a:extLst>
          </p:cNvPr>
          <p:cNvSpPr/>
          <p:nvPr/>
        </p:nvSpPr>
        <p:spPr>
          <a:xfrm>
            <a:off x="2968045" y="5754747"/>
            <a:ext cx="731520" cy="147333"/>
          </a:xfrm>
          <a:prstGeom prst="round2SameRect">
            <a:avLst/>
          </a:prstGeom>
          <a:gradFill>
            <a:gsLst>
              <a:gs pos="90000">
                <a:schemeClr val="accent1">
                  <a:lumMod val="75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Top Corners Rounded 129">
            <a:extLst>
              <a:ext uri="{FF2B5EF4-FFF2-40B4-BE49-F238E27FC236}">
                <a16:creationId xmlns:a16="http://schemas.microsoft.com/office/drawing/2014/main" id="{1764937E-DF57-4450-A0BE-7935933A8614}"/>
              </a:ext>
            </a:extLst>
          </p:cNvPr>
          <p:cNvSpPr/>
          <p:nvPr/>
        </p:nvSpPr>
        <p:spPr>
          <a:xfrm>
            <a:off x="10525919" y="5805333"/>
            <a:ext cx="640080" cy="92833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: Top Corners Rounded 130">
            <a:extLst>
              <a:ext uri="{FF2B5EF4-FFF2-40B4-BE49-F238E27FC236}">
                <a16:creationId xmlns:a16="http://schemas.microsoft.com/office/drawing/2014/main" id="{35840E21-9572-4855-B24D-466AA48ECBE4}"/>
              </a:ext>
            </a:extLst>
          </p:cNvPr>
          <p:cNvSpPr/>
          <p:nvPr/>
        </p:nvSpPr>
        <p:spPr>
          <a:xfrm>
            <a:off x="5228889" y="5754748"/>
            <a:ext cx="640080" cy="143419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Rectangle: Top Corners Rounded 131">
            <a:extLst>
              <a:ext uri="{FF2B5EF4-FFF2-40B4-BE49-F238E27FC236}">
                <a16:creationId xmlns:a16="http://schemas.microsoft.com/office/drawing/2014/main" id="{E38FDC32-2192-4B0F-A586-8970751BB878}"/>
              </a:ext>
            </a:extLst>
          </p:cNvPr>
          <p:cNvSpPr/>
          <p:nvPr/>
        </p:nvSpPr>
        <p:spPr>
          <a:xfrm>
            <a:off x="3719961" y="5716614"/>
            <a:ext cx="731520" cy="184499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Rectangle: Top Corners Rounded 132">
            <a:extLst>
              <a:ext uri="{FF2B5EF4-FFF2-40B4-BE49-F238E27FC236}">
                <a16:creationId xmlns:a16="http://schemas.microsoft.com/office/drawing/2014/main" id="{73A01E64-E2E4-4BFD-AC93-53BA4D996835}"/>
              </a:ext>
            </a:extLst>
          </p:cNvPr>
          <p:cNvSpPr/>
          <p:nvPr/>
        </p:nvSpPr>
        <p:spPr>
          <a:xfrm>
            <a:off x="7891182" y="5433588"/>
            <a:ext cx="640080" cy="473463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Rectangle: Top Corners Rounded 133">
            <a:extLst>
              <a:ext uri="{FF2B5EF4-FFF2-40B4-BE49-F238E27FC236}">
                <a16:creationId xmlns:a16="http://schemas.microsoft.com/office/drawing/2014/main" id="{7988F07F-7DAD-40DE-B4A2-CA166F82D87A}"/>
              </a:ext>
            </a:extLst>
          </p:cNvPr>
          <p:cNvSpPr/>
          <p:nvPr/>
        </p:nvSpPr>
        <p:spPr>
          <a:xfrm>
            <a:off x="7229421" y="5280426"/>
            <a:ext cx="640080" cy="627038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: Top Corners Rounded 134">
            <a:extLst>
              <a:ext uri="{FF2B5EF4-FFF2-40B4-BE49-F238E27FC236}">
                <a16:creationId xmlns:a16="http://schemas.microsoft.com/office/drawing/2014/main" id="{F03C6612-BA36-4A1F-A3C8-E59F3F61B32E}"/>
              </a:ext>
            </a:extLst>
          </p:cNvPr>
          <p:cNvSpPr/>
          <p:nvPr/>
        </p:nvSpPr>
        <p:spPr>
          <a:xfrm>
            <a:off x="6562509" y="5397636"/>
            <a:ext cx="640080" cy="504748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Rectangle: Top Corners Rounded 135">
            <a:extLst>
              <a:ext uri="{FF2B5EF4-FFF2-40B4-BE49-F238E27FC236}">
                <a16:creationId xmlns:a16="http://schemas.microsoft.com/office/drawing/2014/main" id="{2C0B7428-1C7A-4D6D-86CF-9DDBBE20059C}"/>
              </a:ext>
            </a:extLst>
          </p:cNvPr>
          <p:cNvSpPr/>
          <p:nvPr/>
        </p:nvSpPr>
        <p:spPr>
          <a:xfrm>
            <a:off x="4471877" y="5717581"/>
            <a:ext cx="731520" cy="184499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: Top Corners Rounded 136">
            <a:extLst>
              <a:ext uri="{FF2B5EF4-FFF2-40B4-BE49-F238E27FC236}">
                <a16:creationId xmlns:a16="http://schemas.microsoft.com/office/drawing/2014/main" id="{12D40695-8370-4244-ABE7-E66A1B711267}"/>
              </a:ext>
            </a:extLst>
          </p:cNvPr>
          <p:cNvSpPr/>
          <p:nvPr/>
        </p:nvSpPr>
        <p:spPr>
          <a:xfrm>
            <a:off x="5893023" y="5625670"/>
            <a:ext cx="640080" cy="276410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Rectangle: Top Corners Rounded 137">
            <a:extLst>
              <a:ext uri="{FF2B5EF4-FFF2-40B4-BE49-F238E27FC236}">
                <a16:creationId xmlns:a16="http://schemas.microsoft.com/office/drawing/2014/main" id="{22E397C8-E348-4A89-B98A-2E76BAF1E9CE}"/>
              </a:ext>
            </a:extLst>
          </p:cNvPr>
          <p:cNvSpPr/>
          <p:nvPr/>
        </p:nvSpPr>
        <p:spPr>
          <a:xfrm>
            <a:off x="9867390" y="5805333"/>
            <a:ext cx="640080" cy="92833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Rectangle: Top Corners Rounded 138">
            <a:extLst>
              <a:ext uri="{FF2B5EF4-FFF2-40B4-BE49-F238E27FC236}">
                <a16:creationId xmlns:a16="http://schemas.microsoft.com/office/drawing/2014/main" id="{6E0FFC4A-5745-4C6A-946B-CE2D1BC53F06}"/>
              </a:ext>
            </a:extLst>
          </p:cNvPr>
          <p:cNvSpPr/>
          <p:nvPr/>
        </p:nvSpPr>
        <p:spPr>
          <a:xfrm>
            <a:off x="8555786" y="5553237"/>
            <a:ext cx="640080" cy="353811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Rectangle: Top Corners Rounded 139">
            <a:extLst>
              <a:ext uri="{FF2B5EF4-FFF2-40B4-BE49-F238E27FC236}">
                <a16:creationId xmlns:a16="http://schemas.microsoft.com/office/drawing/2014/main" id="{4F063EAD-9A4A-4744-8577-101D6E18E8AB}"/>
              </a:ext>
            </a:extLst>
          </p:cNvPr>
          <p:cNvSpPr/>
          <p:nvPr/>
        </p:nvSpPr>
        <p:spPr>
          <a:xfrm>
            <a:off x="9211197" y="5684049"/>
            <a:ext cx="640080" cy="218334"/>
          </a:xfrm>
          <a:prstGeom prst="round2SameRect">
            <a:avLst/>
          </a:prstGeom>
          <a:gradFill>
            <a:gsLst>
              <a:gs pos="75000">
                <a:schemeClr val="accent1">
                  <a:lumMod val="75000"/>
                </a:schemeClr>
              </a:gs>
              <a:gs pos="800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E268B974-40CE-44D7-926A-DB1B62DF23A3}"/>
              </a:ext>
            </a:extLst>
          </p:cNvPr>
          <p:cNvSpPr/>
          <p:nvPr/>
        </p:nvSpPr>
        <p:spPr>
          <a:xfrm>
            <a:off x="130969" y="4474420"/>
            <a:ext cx="2709594" cy="365760"/>
          </a:xfrm>
          <a:prstGeom prst="roundRect">
            <a:avLst/>
          </a:prstGeom>
          <a:solidFill>
            <a:srgbClr val="CBE1C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8368D9B3-D049-49F8-81DB-825B5A4A6BAA}"/>
              </a:ext>
            </a:extLst>
          </p:cNvPr>
          <p:cNvSpPr/>
          <p:nvPr/>
        </p:nvSpPr>
        <p:spPr>
          <a:xfrm>
            <a:off x="134228" y="4972393"/>
            <a:ext cx="2706335" cy="365760"/>
          </a:xfrm>
          <a:prstGeom prst="roundRect">
            <a:avLst/>
          </a:prstGeom>
          <a:solidFill>
            <a:srgbClr val="EDDC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FCE4C55D-E2B6-4149-B525-B609FBA8D95A}"/>
              </a:ext>
            </a:extLst>
          </p:cNvPr>
          <p:cNvSpPr/>
          <p:nvPr/>
        </p:nvSpPr>
        <p:spPr>
          <a:xfrm>
            <a:off x="125575" y="5476609"/>
            <a:ext cx="2709594" cy="365760"/>
          </a:xfrm>
          <a:prstGeom prst="roundRect">
            <a:avLst/>
          </a:prstGeom>
          <a:solidFill>
            <a:srgbClr val="ECC0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48716070-E474-49FA-983C-5668212A69D6}"/>
              </a:ext>
            </a:extLst>
          </p:cNvPr>
          <p:cNvSpPr/>
          <p:nvPr/>
        </p:nvSpPr>
        <p:spPr>
          <a:xfrm>
            <a:off x="142007" y="5967844"/>
            <a:ext cx="2700382" cy="365760"/>
          </a:xfrm>
          <a:prstGeom prst="roundRect">
            <a:avLst/>
          </a:prstGeom>
          <a:solidFill>
            <a:srgbClr val="DE947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69EA069-5347-4BBF-AEFA-660D61760C36}"/>
              </a:ext>
            </a:extLst>
          </p:cNvPr>
          <p:cNvSpPr txBox="1"/>
          <p:nvPr/>
        </p:nvSpPr>
        <p:spPr>
          <a:xfrm>
            <a:off x="1465596" y="4511329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$ 115K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47E7E58-A150-4580-9063-75FB75DCAA68}"/>
              </a:ext>
            </a:extLst>
          </p:cNvPr>
          <p:cNvSpPr txBox="1"/>
          <p:nvPr/>
        </p:nvSpPr>
        <p:spPr>
          <a:xfrm>
            <a:off x="1471730" y="5023823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$ 158K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CB4C177-C332-49CF-96DE-C64F5479ABEF}"/>
              </a:ext>
            </a:extLst>
          </p:cNvPr>
          <p:cNvSpPr txBox="1"/>
          <p:nvPr/>
        </p:nvSpPr>
        <p:spPr>
          <a:xfrm>
            <a:off x="1500306" y="5525742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$ 183K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B33E2D-40E5-44B9-B937-19C1C3E24427}"/>
              </a:ext>
            </a:extLst>
          </p:cNvPr>
          <p:cNvSpPr txBox="1"/>
          <p:nvPr/>
        </p:nvSpPr>
        <p:spPr>
          <a:xfrm>
            <a:off x="1522695" y="6006326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$ 257K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213DBCF-AB14-470D-BBDA-455249661522}"/>
              </a:ext>
            </a:extLst>
          </p:cNvPr>
          <p:cNvSpPr txBox="1"/>
          <p:nvPr/>
        </p:nvSpPr>
        <p:spPr>
          <a:xfrm>
            <a:off x="812268" y="4513656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اقتصادی</a:t>
            </a:r>
            <a:endParaRPr lang="en-US" sz="1200" b="1" dirty="0">
              <a:solidFill>
                <a:srgbClr val="3F5D3A"/>
              </a:solidFill>
              <a:latin typeface="Arial Black" panose="020B0A04020102020204" pitchFamily="34" charset="0"/>
              <a:ea typeface="Yu Gothic" panose="020B0400000000000000" pitchFamily="34" charset="-128"/>
              <a:cs typeface="B Titr" panose="00000700000000000000" pitchFamily="2" charset="-78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016C1EB-FF4E-4109-8360-A23B9CA27F1C}"/>
              </a:ext>
            </a:extLst>
          </p:cNvPr>
          <p:cNvSpPr txBox="1"/>
          <p:nvPr/>
        </p:nvSpPr>
        <p:spPr>
          <a:xfrm>
            <a:off x="767324" y="5014745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متوسط</a:t>
            </a:r>
            <a:endParaRPr lang="en-US" sz="1200" b="1" dirty="0">
              <a:solidFill>
                <a:srgbClr val="3F5D3A"/>
              </a:solidFill>
              <a:latin typeface="Arial Black" panose="020B0A04020102020204" pitchFamily="34" charset="0"/>
              <a:ea typeface="Yu Gothic" panose="020B0400000000000000" pitchFamily="34" charset="-128"/>
              <a:cs typeface="B Titr" panose="00000700000000000000" pitchFamily="2" charset="-78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6647222-F0BD-4AC3-9205-8203D6B819CB}"/>
              </a:ext>
            </a:extLst>
          </p:cNvPr>
          <p:cNvSpPr txBox="1"/>
          <p:nvPr/>
        </p:nvSpPr>
        <p:spPr>
          <a:xfrm>
            <a:off x="248319" y="5491442"/>
            <a:ext cx="13642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بزرگ بدون </a:t>
            </a:r>
            <a:r>
              <a:rPr lang="fa-IR" sz="1200" b="1" dirty="0" err="1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زیزمین</a:t>
            </a:r>
            <a:endParaRPr lang="en-US" sz="1200" b="1" dirty="0">
              <a:solidFill>
                <a:srgbClr val="3F5D3A"/>
              </a:solidFill>
              <a:latin typeface="Arial Black" panose="020B0A04020102020204" pitchFamily="34" charset="0"/>
              <a:ea typeface="Yu Gothic" panose="020B0400000000000000" pitchFamily="34" charset="-128"/>
              <a:cs typeface="B Titr" panose="00000700000000000000" pitchFamily="2" charset="-78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6FF9EC5-DDF3-42E0-BBCC-D23CD7AC0546}"/>
              </a:ext>
            </a:extLst>
          </p:cNvPr>
          <p:cNvSpPr txBox="1"/>
          <p:nvPr/>
        </p:nvSpPr>
        <p:spPr>
          <a:xfrm>
            <a:off x="809512" y="6002536"/>
            <a:ext cx="807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 b="1" dirty="0">
                <a:solidFill>
                  <a:srgbClr val="3F5D3A"/>
                </a:solidFill>
                <a:latin typeface="Arial Black" panose="020B0A04020102020204" pitchFamily="34" charset="0"/>
                <a:ea typeface="Yu Gothic" panose="020B0400000000000000" pitchFamily="34" charset="-128"/>
                <a:cs typeface="B Titr" panose="00000700000000000000" pitchFamily="2" charset="-78"/>
              </a:rPr>
              <a:t>لوکس</a:t>
            </a:r>
            <a:endParaRPr lang="en-US" sz="1200" b="1" dirty="0">
              <a:solidFill>
                <a:srgbClr val="3F5D3A"/>
              </a:solidFill>
              <a:latin typeface="Arial Black" panose="020B0A04020102020204" pitchFamily="34" charset="0"/>
              <a:ea typeface="Yu Gothic" panose="020B0400000000000000" pitchFamily="34" charset="-128"/>
              <a:cs typeface="B Titr" panose="00000700000000000000" pitchFamily="2" charset="-78"/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47A65C2-6395-4D3D-80D0-C4D2485C2871}"/>
              </a:ext>
            </a:extLst>
          </p:cNvPr>
          <p:cNvSpPr/>
          <p:nvPr/>
        </p:nvSpPr>
        <p:spPr>
          <a:xfrm>
            <a:off x="8693502" y="6098205"/>
            <a:ext cx="2289466" cy="19117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000" dirty="0">
                <a:solidFill>
                  <a:srgbClr val="4B6076"/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</a:rPr>
              <a:t>بیشترین: ماه 6 (</a:t>
            </a:r>
            <a:r>
              <a:rPr lang="fa-IR" sz="1000" dirty="0">
                <a:solidFill>
                  <a:srgbClr val="4B6076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240</a:t>
            </a:r>
            <a:r>
              <a:rPr lang="fa-IR" sz="1000" dirty="0">
                <a:solidFill>
                  <a:srgbClr val="4B6076"/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</a:rPr>
              <a:t> معامله) – کمترین: ماه 2 (52 معامله)</a:t>
            </a:r>
            <a:endParaRPr lang="en-US" sz="600" dirty="0">
              <a:solidFill>
                <a:srgbClr val="4B6076"/>
              </a:solidFill>
              <a:latin typeface="Adobe Arabic" panose="02040703060201020203" pitchFamily="18" charset="-7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EE9B35A-2AD3-479A-8AD4-FE085511C449}"/>
              </a:ext>
            </a:extLst>
          </p:cNvPr>
          <p:cNvSpPr txBox="1"/>
          <p:nvPr/>
        </p:nvSpPr>
        <p:spPr>
          <a:xfrm>
            <a:off x="10883271" y="5873754"/>
            <a:ext cx="4208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</a:rPr>
              <a:t>ماه </a:t>
            </a:r>
            <a:r>
              <a:rPr lang="fa-I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1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8B5F9B7-E55A-4D98-8F30-DEC88D4035DC}"/>
              </a:ext>
            </a:extLst>
          </p:cNvPr>
          <p:cNvSpPr txBox="1"/>
          <p:nvPr/>
        </p:nvSpPr>
        <p:spPr>
          <a:xfrm>
            <a:off x="2896301" y="5846802"/>
            <a:ext cx="4208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dobe Arabic" panose="02040703060201020203" pitchFamily="18" charset="-78"/>
                <a:ea typeface="Yu Gothic" panose="020B0400000000000000" pitchFamily="34" charset="-128"/>
                <a:cs typeface="Adobe Arabic" panose="02040703060201020203" pitchFamily="18" charset="-78"/>
              </a:rPr>
              <a:t>ماه </a:t>
            </a:r>
            <a:r>
              <a:rPr lang="fa-I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12</a:t>
            </a:r>
            <a:endParaRPr 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60" name="Rectangle: Top Corners Rounded 159">
            <a:extLst>
              <a:ext uri="{FF2B5EF4-FFF2-40B4-BE49-F238E27FC236}">
                <a16:creationId xmlns:a16="http://schemas.microsoft.com/office/drawing/2014/main" id="{F15B8780-7654-4B7D-A1D8-1C51545C645C}"/>
              </a:ext>
            </a:extLst>
          </p:cNvPr>
          <p:cNvSpPr/>
          <p:nvPr/>
        </p:nvSpPr>
        <p:spPr>
          <a:xfrm>
            <a:off x="9709691" y="6975386"/>
            <a:ext cx="676656" cy="903497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: Top Corners Rounded 160">
            <a:extLst>
              <a:ext uri="{FF2B5EF4-FFF2-40B4-BE49-F238E27FC236}">
                <a16:creationId xmlns:a16="http://schemas.microsoft.com/office/drawing/2014/main" id="{46D48FD9-3631-44E2-87BB-BE4041760E92}"/>
              </a:ext>
            </a:extLst>
          </p:cNvPr>
          <p:cNvSpPr/>
          <p:nvPr/>
        </p:nvSpPr>
        <p:spPr>
          <a:xfrm>
            <a:off x="9011956" y="6883986"/>
            <a:ext cx="676656" cy="989360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" name="Rectangle: Top Corners Rounded 161">
            <a:extLst>
              <a:ext uri="{FF2B5EF4-FFF2-40B4-BE49-F238E27FC236}">
                <a16:creationId xmlns:a16="http://schemas.microsoft.com/office/drawing/2014/main" id="{22AAA233-3D52-4312-991E-001ACF8DC6B9}"/>
              </a:ext>
            </a:extLst>
          </p:cNvPr>
          <p:cNvSpPr/>
          <p:nvPr/>
        </p:nvSpPr>
        <p:spPr>
          <a:xfrm>
            <a:off x="18102405" y="7553468"/>
            <a:ext cx="676656" cy="296308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" name="Rectangle: Top Corners Rounded 162">
            <a:extLst>
              <a:ext uri="{FF2B5EF4-FFF2-40B4-BE49-F238E27FC236}">
                <a16:creationId xmlns:a16="http://schemas.microsoft.com/office/drawing/2014/main" id="{3695DFE0-9CFA-4873-8F43-6B1F3DBA4DE9}"/>
              </a:ext>
            </a:extLst>
          </p:cNvPr>
          <p:cNvSpPr/>
          <p:nvPr/>
        </p:nvSpPr>
        <p:spPr>
          <a:xfrm>
            <a:off x="17402815" y="7505700"/>
            <a:ext cx="676656" cy="348779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: Top Corners Rounded 163">
            <a:extLst>
              <a:ext uri="{FF2B5EF4-FFF2-40B4-BE49-F238E27FC236}">
                <a16:creationId xmlns:a16="http://schemas.microsoft.com/office/drawing/2014/main" id="{6A3AAB33-BA86-4808-8720-CC603D95BEE0}"/>
              </a:ext>
            </a:extLst>
          </p:cNvPr>
          <p:cNvSpPr/>
          <p:nvPr/>
        </p:nvSpPr>
        <p:spPr>
          <a:xfrm>
            <a:off x="14575329" y="7359567"/>
            <a:ext cx="676656" cy="508875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ectangle: Top Corners Rounded 164">
            <a:extLst>
              <a:ext uri="{FF2B5EF4-FFF2-40B4-BE49-F238E27FC236}">
                <a16:creationId xmlns:a16="http://schemas.microsoft.com/office/drawing/2014/main" id="{D17E8BF5-32E4-4E06-BE4B-892E78F0A05F}"/>
              </a:ext>
            </a:extLst>
          </p:cNvPr>
          <p:cNvSpPr/>
          <p:nvPr/>
        </p:nvSpPr>
        <p:spPr>
          <a:xfrm>
            <a:off x="16703225" y="7380379"/>
            <a:ext cx="676656" cy="474102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Rectangle: Top Corners Rounded 165">
            <a:extLst>
              <a:ext uri="{FF2B5EF4-FFF2-40B4-BE49-F238E27FC236}">
                <a16:creationId xmlns:a16="http://schemas.microsoft.com/office/drawing/2014/main" id="{E5755BF1-87C4-4F00-AD2D-9111A26669B8}"/>
              </a:ext>
            </a:extLst>
          </p:cNvPr>
          <p:cNvSpPr/>
          <p:nvPr/>
        </p:nvSpPr>
        <p:spPr>
          <a:xfrm>
            <a:off x="15998097" y="7505700"/>
            <a:ext cx="676656" cy="348780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Rectangle: Top Corners Rounded 166">
            <a:extLst>
              <a:ext uri="{FF2B5EF4-FFF2-40B4-BE49-F238E27FC236}">
                <a16:creationId xmlns:a16="http://schemas.microsoft.com/office/drawing/2014/main" id="{83FDBDE4-2A69-4EC3-B769-A63B3A93C756}"/>
              </a:ext>
            </a:extLst>
          </p:cNvPr>
          <p:cNvSpPr/>
          <p:nvPr/>
        </p:nvSpPr>
        <p:spPr>
          <a:xfrm>
            <a:off x="15287307" y="7439975"/>
            <a:ext cx="676656" cy="419991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Rectangle: Top Corners Rounded 167">
            <a:extLst>
              <a:ext uri="{FF2B5EF4-FFF2-40B4-BE49-F238E27FC236}">
                <a16:creationId xmlns:a16="http://schemas.microsoft.com/office/drawing/2014/main" id="{291C7297-7CEB-4809-8DE9-789F4CA73EA6}"/>
              </a:ext>
            </a:extLst>
          </p:cNvPr>
          <p:cNvSpPr/>
          <p:nvPr/>
        </p:nvSpPr>
        <p:spPr>
          <a:xfrm>
            <a:off x="13880086" y="7439976"/>
            <a:ext cx="676656" cy="419992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Rectangle: Top Corners Rounded 168">
            <a:extLst>
              <a:ext uri="{FF2B5EF4-FFF2-40B4-BE49-F238E27FC236}">
                <a16:creationId xmlns:a16="http://schemas.microsoft.com/office/drawing/2014/main" id="{2833F3B6-A001-4A3E-B7C1-74BAF4CCE69A}"/>
              </a:ext>
            </a:extLst>
          </p:cNvPr>
          <p:cNvSpPr/>
          <p:nvPr/>
        </p:nvSpPr>
        <p:spPr>
          <a:xfrm>
            <a:off x="13184752" y="7322263"/>
            <a:ext cx="676656" cy="546180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Rectangle: Top Corners Rounded 169">
            <a:extLst>
              <a:ext uri="{FF2B5EF4-FFF2-40B4-BE49-F238E27FC236}">
                <a16:creationId xmlns:a16="http://schemas.microsoft.com/office/drawing/2014/main" id="{DA94C9D2-9983-4544-A9F3-F4554A0CF23C}"/>
              </a:ext>
            </a:extLst>
          </p:cNvPr>
          <p:cNvSpPr/>
          <p:nvPr/>
        </p:nvSpPr>
        <p:spPr>
          <a:xfrm>
            <a:off x="12489246" y="7322263"/>
            <a:ext cx="676656" cy="546180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Rectangle: Top Corners Rounded 170">
            <a:extLst>
              <a:ext uri="{FF2B5EF4-FFF2-40B4-BE49-F238E27FC236}">
                <a16:creationId xmlns:a16="http://schemas.microsoft.com/office/drawing/2014/main" id="{D37310C6-0F89-4E0C-BE74-1F438FD7F379}"/>
              </a:ext>
            </a:extLst>
          </p:cNvPr>
          <p:cNvSpPr/>
          <p:nvPr/>
        </p:nvSpPr>
        <p:spPr>
          <a:xfrm>
            <a:off x="11796209" y="7251700"/>
            <a:ext cx="676656" cy="616744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2" name="Rectangle: Top Corners Rounded 171">
            <a:extLst>
              <a:ext uri="{FF2B5EF4-FFF2-40B4-BE49-F238E27FC236}">
                <a16:creationId xmlns:a16="http://schemas.microsoft.com/office/drawing/2014/main" id="{A9BDED8A-D02E-4C54-8963-4E30686A7C5D}"/>
              </a:ext>
            </a:extLst>
          </p:cNvPr>
          <p:cNvSpPr/>
          <p:nvPr/>
        </p:nvSpPr>
        <p:spPr>
          <a:xfrm>
            <a:off x="10405197" y="7112000"/>
            <a:ext cx="676656" cy="762008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Rectangle: Top Corners Rounded 172">
            <a:extLst>
              <a:ext uri="{FF2B5EF4-FFF2-40B4-BE49-F238E27FC236}">
                <a16:creationId xmlns:a16="http://schemas.microsoft.com/office/drawing/2014/main" id="{A4C55A21-9816-4500-9F9C-F80240E34A31}"/>
              </a:ext>
            </a:extLst>
          </p:cNvPr>
          <p:cNvSpPr/>
          <p:nvPr/>
        </p:nvSpPr>
        <p:spPr>
          <a:xfrm>
            <a:off x="11100703" y="7201243"/>
            <a:ext cx="676656" cy="667201"/>
          </a:xfrm>
          <a:prstGeom prst="round2SameRect">
            <a:avLst/>
          </a:prstGeom>
          <a:gradFill>
            <a:gsLst>
              <a:gs pos="99734">
                <a:schemeClr val="accent6">
                  <a:lumMod val="50000"/>
                </a:schemeClr>
              </a:gs>
              <a:gs pos="99601">
                <a:schemeClr val="accent6">
                  <a:lumMod val="50000"/>
                </a:schemeClr>
              </a:gs>
              <a:gs pos="0">
                <a:srgbClr val="F4F7F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E2A5C09-3686-497C-8FE5-81E8A66E6026}"/>
              </a:ext>
            </a:extLst>
          </p:cNvPr>
          <p:cNvSpPr txBox="1"/>
          <p:nvPr/>
        </p:nvSpPr>
        <p:spPr>
          <a:xfrm>
            <a:off x="15544325" y="6464276"/>
            <a:ext cx="32198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F3ECDE"/>
                </a:solidFill>
                <a:effectLst/>
                <a:latin typeface="Arial Black" panose="020B0A04020102020204" pitchFamily="34" charset="0"/>
                <a:cs typeface="B Titr" panose="00000700000000000000" pitchFamily="2" charset="-78"/>
              </a:rPr>
              <a:t>🏗️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Arial Black" panose="020B0A04020102020204" pitchFamily="34" charset="0"/>
                <a:cs typeface="B Titr" panose="00000700000000000000" pitchFamily="2" charset="-78"/>
              </a:rPr>
              <a:t>میانه‌ ی قیمت به تفکیک دهه ‌ی ساخت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F00D7F2-07A3-41C8-896C-79A33C22C9EA}"/>
              </a:ext>
            </a:extLst>
          </p:cNvPr>
          <p:cNvSpPr txBox="1"/>
          <p:nvPr/>
        </p:nvSpPr>
        <p:spPr>
          <a:xfrm>
            <a:off x="7997772" y="6394426"/>
            <a:ext cx="19901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خانه‌ ی جدیدتر، گران‌ تر</a:t>
            </a:r>
            <a:endParaRPr lang="en-US" sz="10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A7275CC-71B4-4AE3-A2D4-81B2CB6E15B7}"/>
              </a:ext>
            </a:extLst>
          </p:cNvPr>
          <p:cNvSpPr txBox="1"/>
          <p:nvPr/>
        </p:nvSpPr>
        <p:spPr>
          <a:xfrm>
            <a:off x="8771013" y="7876153"/>
            <a:ext cx="9923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8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دهه ‌ی ۲۰۰۰ </a:t>
            </a:r>
            <a:r>
              <a:rPr lang="fa-IR" sz="6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6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$ 213K</a:t>
            </a:r>
            <a:r>
              <a:rPr lang="fa-IR" sz="6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3F4F56A-67E9-46F6-88B7-6D2D7E8497CE}"/>
              </a:ext>
            </a:extLst>
          </p:cNvPr>
          <p:cNvSpPr txBox="1"/>
          <p:nvPr/>
        </p:nvSpPr>
        <p:spPr>
          <a:xfrm>
            <a:off x="17359677" y="7849776"/>
            <a:ext cx="15079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8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دهه ‌ی ۱۸۷۰ </a:t>
            </a:r>
            <a:r>
              <a:rPr lang="en-US" sz="6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($ 108K)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2E4BA7FC-03A6-46B5-8FED-3CD21D5D7B7C}"/>
              </a:ext>
            </a:extLst>
          </p:cNvPr>
          <p:cNvSpPr/>
          <p:nvPr/>
        </p:nvSpPr>
        <p:spPr>
          <a:xfrm>
            <a:off x="17029867" y="8091597"/>
            <a:ext cx="1627868" cy="191170"/>
          </a:xfrm>
          <a:prstGeom prst="roundRect">
            <a:avLst/>
          </a:prstGeom>
          <a:solidFill>
            <a:srgbClr val="EE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050" dirty="0">
                <a:solidFill>
                  <a:srgbClr val="6C806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dobe Arabic" panose="02040703060201020203" pitchFamily="18" charset="-78"/>
              </a:rPr>
              <a:t>تقریبا 2 برابر افزایش قیمت در 13 دهه</a:t>
            </a:r>
            <a:endParaRPr lang="en-US" sz="700" dirty="0">
              <a:solidFill>
                <a:srgbClr val="6C8062"/>
              </a:solidFill>
              <a:latin typeface="Yu Gothic" panose="020B0400000000000000" pitchFamily="34" charset="-128"/>
              <a:ea typeface="Yu Gothic" panose="020B0400000000000000" pitchFamily="34" charset="-128"/>
              <a:cs typeface="Adobe Arabic" panose="02040703060201020203" pitchFamily="18" charset="-78"/>
            </a:endParaRP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C721447E-89E3-4F12-94DB-0BB83D741295}"/>
              </a:ext>
            </a:extLst>
          </p:cNvPr>
          <p:cNvSpPr/>
          <p:nvPr/>
        </p:nvSpPr>
        <p:spPr>
          <a:xfrm>
            <a:off x="134228" y="6432691"/>
            <a:ext cx="4316168" cy="1889522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870CC8B-C694-43AF-960D-28B0CFBAD275}"/>
              </a:ext>
            </a:extLst>
          </p:cNvPr>
          <p:cNvSpPr txBox="1"/>
          <p:nvPr/>
        </p:nvSpPr>
        <p:spPr>
          <a:xfrm>
            <a:off x="7465812" y="6415601"/>
            <a:ext cx="13123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dirty="0">
                <a:cs typeface="B Titr" panose="00000700000000000000" pitchFamily="2" charset="-78"/>
              </a:rPr>
              <a:t>🏘️</a:t>
            </a:r>
            <a:r>
              <a:rPr lang="fa-IR" sz="1100" dirty="0">
                <a:cs typeface="B Titr" panose="00000700000000000000" pitchFamily="2" charset="-78"/>
              </a:rPr>
              <a:t>گران ‌ترین محله‌ ها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A28C9C3-181C-4061-AC26-F21547C7FE81}"/>
              </a:ext>
            </a:extLst>
          </p:cNvPr>
          <p:cNvSpPr txBox="1"/>
          <p:nvPr/>
        </p:nvSpPr>
        <p:spPr>
          <a:xfrm>
            <a:off x="3015428" y="6451679"/>
            <a:ext cx="13324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F3ECDE"/>
                </a:solidFill>
                <a:effectLst/>
                <a:latin typeface="Vazirmatn"/>
                <a:cs typeface="B Titr" panose="00000700000000000000" pitchFamily="2" charset="-78"/>
              </a:rPr>
              <a:t>🏘️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ارزان ‌ترین محله‌ ها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E77D9A01-F0F8-4E27-823F-963D3FF80A74}"/>
              </a:ext>
            </a:extLst>
          </p:cNvPr>
          <p:cNvSpPr/>
          <p:nvPr/>
        </p:nvSpPr>
        <p:spPr>
          <a:xfrm>
            <a:off x="4868717" y="7066280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54D1E284-E7DC-4BDC-A2B5-4E04F431D8B9}"/>
              </a:ext>
            </a:extLst>
          </p:cNvPr>
          <p:cNvSpPr/>
          <p:nvPr/>
        </p:nvSpPr>
        <p:spPr>
          <a:xfrm>
            <a:off x="4868717" y="7252111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6D66E387-E079-42BD-93EA-3B88DF3FD14B}"/>
              </a:ext>
            </a:extLst>
          </p:cNvPr>
          <p:cNvSpPr/>
          <p:nvPr/>
        </p:nvSpPr>
        <p:spPr>
          <a:xfrm>
            <a:off x="4871775" y="7459980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ED4651B2-269D-432C-BD01-A75BB934D1F9}"/>
              </a:ext>
            </a:extLst>
          </p:cNvPr>
          <p:cNvSpPr/>
          <p:nvPr/>
        </p:nvSpPr>
        <p:spPr>
          <a:xfrm>
            <a:off x="4876743" y="7663746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73F69072-EA36-46B2-B7F1-66CAE70C8660}"/>
              </a:ext>
            </a:extLst>
          </p:cNvPr>
          <p:cNvSpPr/>
          <p:nvPr/>
        </p:nvSpPr>
        <p:spPr>
          <a:xfrm>
            <a:off x="4874935" y="7066280"/>
            <a:ext cx="3474720" cy="91440"/>
          </a:xfrm>
          <a:prstGeom prst="roundRect">
            <a:avLst/>
          </a:prstGeom>
          <a:solidFill>
            <a:srgbClr val="B56A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E1D5FF41-7F22-4560-886A-21F912CA1578}"/>
              </a:ext>
            </a:extLst>
          </p:cNvPr>
          <p:cNvSpPr/>
          <p:nvPr/>
        </p:nvSpPr>
        <p:spPr>
          <a:xfrm>
            <a:off x="4960692" y="7249701"/>
            <a:ext cx="3383280" cy="91440"/>
          </a:xfrm>
          <a:prstGeom prst="roundRect">
            <a:avLst/>
          </a:prstGeom>
          <a:solidFill>
            <a:srgbClr val="B56A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C3415855-A612-4219-AD7F-CBDB3EB0B4E4}"/>
              </a:ext>
            </a:extLst>
          </p:cNvPr>
          <p:cNvSpPr/>
          <p:nvPr/>
        </p:nvSpPr>
        <p:spPr>
          <a:xfrm>
            <a:off x="5328989" y="7460525"/>
            <a:ext cx="3017520" cy="91440"/>
          </a:xfrm>
          <a:prstGeom prst="roundRect">
            <a:avLst/>
          </a:prstGeom>
          <a:solidFill>
            <a:srgbClr val="B56A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AEACC3A1-4183-4840-BF47-B29EB2E33F34}"/>
              </a:ext>
            </a:extLst>
          </p:cNvPr>
          <p:cNvSpPr/>
          <p:nvPr/>
        </p:nvSpPr>
        <p:spPr>
          <a:xfrm>
            <a:off x="5602039" y="7657375"/>
            <a:ext cx="2743200" cy="91440"/>
          </a:xfrm>
          <a:prstGeom prst="roundRect">
            <a:avLst/>
          </a:prstGeom>
          <a:solidFill>
            <a:srgbClr val="B56A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20C3652-320E-4E24-9B2E-DE50A55A18BE}"/>
              </a:ext>
            </a:extLst>
          </p:cNvPr>
          <p:cNvSpPr txBox="1"/>
          <p:nvPr/>
        </p:nvSpPr>
        <p:spPr>
          <a:xfrm>
            <a:off x="8294442" y="7006977"/>
            <a:ext cx="95027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 err="1">
                <a:solidFill>
                  <a:srgbClr val="1E2A33"/>
                </a:solidFill>
                <a:effectLst/>
                <a:latin typeface="Bahnschrift" panose="020B0502040204020203" pitchFamily="34" charset="0"/>
                <a:ea typeface="Yu Gothic" panose="020B0400000000000000" pitchFamily="34" charset="-128"/>
              </a:rPr>
              <a:t>NridgHt</a:t>
            </a:r>
            <a:endParaRPr lang="fa-IR" sz="600" b="1" i="0" dirty="0">
              <a:solidFill>
                <a:srgbClr val="1E2A33"/>
              </a:solidFill>
              <a:effectLst/>
              <a:latin typeface="Bahnschrift" panose="020B0502040204020203" pitchFamily="34" charset="0"/>
              <a:ea typeface="Yu Gothic" panose="020B0400000000000000" pitchFamily="34" charset="-128"/>
            </a:endParaRPr>
          </a:p>
          <a:p>
            <a:endParaRPr lang="fa-IR" sz="600" b="1" dirty="0">
              <a:solidFill>
                <a:srgbClr val="1E2A33"/>
              </a:solidFill>
              <a:latin typeface="Bahnschrift" panose="020B0502040204020203" pitchFamily="34" charset="0"/>
            </a:endParaRPr>
          </a:p>
          <a:p>
            <a:r>
              <a:rPr lang="en-US" sz="600" b="1" dirty="0" err="1">
                <a:latin typeface="Bahnschrift" panose="020B0502040204020203" pitchFamily="34" charset="0"/>
                <a:ea typeface="Yu Gothic" panose="020B0400000000000000" pitchFamily="34" charset="-128"/>
              </a:rPr>
              <a:t>NoRidge</a:t>
            </a:r>
            <a:endParaRPr lang="fa-IR" sz="600" b="1" dirty="0">
              <a:latin typeface="Bahnschrift" panose="020B0502040204020203" pitchFamily="34" charset="0"/>
              <a:ea typeface="Yu Gothic" panose="020B0400000000000000" pitchFamily="34" charset="-128"/>
            </a:endParaRPr>
          </a:p>
          <a:p>
            <a:endParaRPr lang="fa-IR" sz="600" dirty="0"/>
          </a:p>
          <a:p>
            <a:endParaRPr lang="fa-IR" sz="600" dirty="0"/>
          </a:p>
          <a:p>
            <a:endParaRPr lang="fa-IR" sz="600" dirty="0"/>
          </a:p>
          <a:p>
            <a:endParaRPr lang="en-US" sz="6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0DCDAED-D9D2-4799-9CBA-213FDB307741}"/>
              </a:ext>
            </a:extLst>
          </p:cNvPr>
          <p:cNvSpPr txBox="1"/>
          <p:nvPr/>
        </p:nvSpPr>
        <p:spPr>
          <a:xfrm>
            <a:off x="8294442" y="7614677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Bahnschrift" panose="020B0502040204020203" pitchFamily="34" charset="0"/>
                <a:ea typeface="Yu Gothic" panose="020B0400000000000000" pitchFamily="34" charset="-128"/>
              </a:rPr>
              <a:t>Timber</a:t>
            </a:r>
            <a:endParaRPr lang="en-US" sz="1400" b="1" dirty="0">
              <a:latin typeface="Bahnschrift" panose="020B0502040204020203" pitchFamily="34" charset="0"/>
              <a:ea typeface="Yu Gothic" panose="020B0400000000000000" pitchFamily="34" charset="-128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86095707-AEB3-4DA7-98A4-623D2399B4EC}"/>
              </a:ext>
            </a:extLst>
          </p:cNvPr>
          <p:cNvSpPr txBox="1"/>
          <p:nvPr/>
        </p:nvSpPr>
        <p:spPr>
          <a:xfrm>
            <a:off x="8294442" y="7416926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Bahnschrift" panose="020B0502040204020203" pitchFamily="34" charset="0"/>
                <a:ea typeface="Yu Gothic" panose="020B0400000000000000" pitchFamily="34" charset="-128"/>
              </a:rPr>
              <a:t>StoneBr</a:t>
            </a:r>
            <a:endParaRPr lang="en-US" sz="1400" b="1" dirty="0">
              <a:latin typeface="Bahnschrift" panose="020B0502040204020203" pitchFamily="34" charset="0"/>
              <a:ea typeface="Yu Gothic" panose="020B0400000000000000" pitchFamily="34" charset="-128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C4E9548-8B0B-4A7B-82B6-41D59AF8B873}"/>
              </a:ext>
            </a:extLst>
          </p:cNvPr>
          <p:cNvSpPr txBox="1"/>
          <p:nvPr/>
        </p:nvSpPr>
        <p:spPr>
          <a:xfrm>
            <a:off x="4534655" y="7023288"/>
            <a:ext cx="5766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$ 270K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91C5586-F673-4508-9DD7-6CED918AD363}"/>
              </a:ext>
            </a:extLst>
          </p:cNvPr>
          <p:cNvSpPr txBox="1"/>
          <p:nvPr/>
        </p:nvSpPr>
        <p:spPr>
          <a:xfrm>
            <a:off x="4523339" y="7204809"/>
            <a:ext cx="5766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$ 269K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879CF57-5275-45DB-BF00-CDCC71EDBEC5}"/>
              </a:ext>
            </a:extLst>
          </p:cNvPr>
          <p:cNvSpPr txBox="1"/>
          <p:nvPr/>
        </p:nvSpPr>
        <p:spPr>
          <a:xfrm>
            <a:off x="4523339" y="7419560"/>
            <a:ext cx="5766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$ 239K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C4B41DE-382B-411F-9F74-FB510E110D71}"/>
              </a:ext>
            </a:extLst>
          </p:cNvPr>
          <p:cNvSpPr txBox="1"/>
          <p:nvPr/>
        </p:nvSpPr>
        <p:spPr>
          <a:xfrm>
            <a:off x="4540406" y="7614004"/>
            <a:ext cx="5766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$ 225K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FB1E2B37-BF42-4FED-9274-9445D393F29B}"/>
              </a:ext>
            </a:extLst>
          </p:cNvPr>
          <p:cNvSpPr/>
          <p:nvPr/>
        </p:nvSpPr>
        <p:spPr>
          <a:xfrm>
            <a:off x="478912" y="7065626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F00FD2A3-301D-46C1-8298-07E366CC91D2}"/>
              </a:ext>
            </a:extLst>
          </p:cNvPr>
          <p:cNvSpPr/>
          <p:nvPr/>
        </p:nvSpPr>
        <p:spPr>
          <a:xfrm>
            <a:off x="479931" y="7252111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4BF4AEF8-14DB-4C6F-8D14-B6D49E38261A}"/>
              </a:ext>
            </a:extLst>
          </p:cNvPr>
          <p:cNvSpPr/>
          <p:nvPr/>
        </p:nvSpPr>
        <p:spPr>
          <a:xfrm>
            <a:off x="483651" y="7450362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8B9ACFD2-7910-461B-BE9C-3EAFEBEF362D}"/>
              </a:ext>
            </a:extLst>
          </p:cNvPr>
          <p:cNvSpPr/>
          <p:nvPr/>
        </p:nvSpPr>
        <p:spPr>
          <a:xfrm>
            <a:off x="482104" y="7663746"/>
            <a:ext cx="3474720" cy="91440"/>
          </a:xfrm>
          <a:prstGeom prst="roundRect">
            <a:avLst/>
          </a:prstGeom>
          <a:solidFill>
            <a:srgbClr val="E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B49471EE-8C51-4C05-B1C5-7422503C3804}"/>
              </a:ext>
            </a:extLst>
          </p:cNvPr>
          <p:cNvSpPr/>
          <p:nvPr/>
        </p:nvSpPr>
        <p:spPr>
          <a:xfrm>
            <a:off x="3215894" y="7072688"/>
            <a:ext cx="731520" cy="91440"/>
          </a:xfrm>
          <a:prstGeom prst="roundRect">
            <a:avLst/>
          </a:prstGeom>
          <a:solidFill>
            <a:srgbClr val="7F9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AAC55969-AA20-421C-A43A-6EAA39C279FB}"/>
              </a:ext>
            </a:extLst>
          </p:cNvPr>
          <p:cNvSpPr/>
          <p:nvPr/>
        </p:nvSpPr>
        <p:spPr>
          <a:xfrm>
            <a:off x="3044444" y="7244138"/>
            <a:ext cx="914400" cy="91440"/>
          </a:xfrm>
          <a:prstGeom prst="roundRect">
            <a:avLst/>
          </a:prstGeom>
          <a:solidFill>
            <a:srgbClr val="7F9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D4A3F79-2FB1-4CD6-A538-833AAE8558AC}"/>
              </a:ext>
            </a:extLst>
          </p:cNvPr>
          <p:cNvSpPr/>
          <p:nvPr/>
        </p:nvSpPr>
        <p:spPr>
          <a:xfrm>
            <a:off x="2944114" y="7447284"/>
            <a:ext cx="1005840" cy="91440"/>
          </a:xfrm>
          <a:prstGeom prst="roundRect">
            <a:avLst/>
          </a:prstGeom>
          <a:solidFill>
            <a:srgbClr val="7F9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A8A0C10E-C119-4C8E-ABFB-25745C8927F6}"/>
              </a:ext>
            </a:extLst>
          </p:cNvPr>
          <p:cNvSpPr/>
          <p:nvPr/>
        </p:nvSpPr>
        <p:spPr>
          <a:xfrm>
            <a:off x="2761678" y="7655902"/>
            <a:ext cx="1188720" cy="91440"/>
          </a:xfrm>
          <a:prstGeom prst="roundRect">
            <a:avLst/>
          </a:prstGeom>
          <a:solidFill>
            <a:srgbClr val="7F9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92D4799-6111-4B6B-951D-39FEABA0304C}"/>
              </a:ext>
            </a:extLst>
          </p:cNvPr>
          <p:cNvSpPr txBox="1"/>
          <p:nvPr/>
        </p:nvSpPr>
        <p:spPr>
          <a:xfrm>
            <a:off x="3881917" y="7021844"/>
            <a:ext cx="51852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 err="1">
                <a:solidFill>
                  <a:srgbClr val="1E2A33"/>
                </a:solidFill>
                <a:effectLst/>
                <a:latin typeface="Bahnschrift" panose="020B0502040204020203" pitchFamily="34" charset="0"/>
              </a:rPr>
              <a:t>MeadowV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B3DA768-BB6A-4F7A-AA1A-28683C3F8F04}"/>
              </a:ext>
            </a:extLst>
          </p:cNvPr>
          <p:cNvSpPr txBox="1"/>
          <p:nvPr/>
        </p:nvSpPr>
        <p:spPr>
          <a:xfrm>
            <a:off x="3890357" y="7193739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>
                <a:solidFill>
                  <a:srgbClr val="1E2A33"/>
                </a:solidFill>
                <a:effectLst/>
                <a:latin typeface="Bahnschrift" panose="020B0502040204020203" pitchFamily="34" charset="0"/>
              </a:rPr>
              <a:t>IDOTRR</a:t>
            </a:r>
            <a:endParaRPr lang="en-US" sz="600" dirty="0">
              <a:latin typeface="Bahnschrift" panose="020B0502040204020203" pitchFamily="34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B61DE3E-8F23-4C05-A7ED-07EFAF31B48C}"/>
              </a:ext>
            </a:extLst>
          </p:cNvPr>
          <p:cNvSpPr txBox="1"/>
          <p:nvPr/>
        </p:nvSpPr>
        <p:spPr>
          <a:xfrm>
            <a:off x="3881917" y="7391482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 err="1">
                <a:solidFill>
                  <a:srgbClr val="1E2A33"/>
                </a:solidFill>
                <a:effectLst/>
                <a:latin typeface="Bahnschrift" panose="020B0502040204020203" pitchFamily="34" charset="0"/>
              </a:rPr>
              <a:t>BrDale</a:t>
            </a:r>
            <a:endParaRPr lang="en-US" sz="600" dirty="0">
              <a:latin typeface="Bahnschrift" panose="020B0502040204020203" pitchFamily="34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DD573429-87C7-4BF2-9319-9E1ED548BFB9}"/>
              </a:ext>
            </a:extLst>
          </p:cNvPr>
          <p:cNvSpPr txBox="1"/>
          <p:nvPr/>
        </p:nvSpPr>
        <p:spPr>
          <a:xfrm>
            <a:off x="3869579" y="7607033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 err="1">
                <a:solidFill>
                  <a:srgbClr val="1E2A33"/>
                </a:solidFill>
                <a:effectLst/>
                <a:latin typeface="Bahnschrift" panose="020B0502040204020203" pitchFamily="34" charset="0"/>
              </a:rPr>
              <a:t>OldTown</a:t>
            </a:r>
            <a:endParaRPr lang="en-US" sz="600" dirty="0">
              <a:latin typeface="Bahnschrift" panose="020B0502040204020203" pitchFamily="34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D465729-3397-455E-B306-17C5F161611B}"/>
              </a:ext>
            </a:extLst>
          </p:cNvPr>
          <p:cNvSpPr txBox="1"/>
          <p:nvPr/>
        </p:nvSpPr>
        <p:spPr>
          <a:xfrm>
            <a:off x="179024" y="7021720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$ 88K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04692AB-519D-489E-BAEE-6EE69207A38C}"/>
              </a:ext>
            </a:extLst>
          </p:cNvPr>
          <p:cNvSpPr txBox="1"/>
          <p:nvPr/>
        </p:nvSpPr>
        <p:spPr>
          <a:xfrm>
            <a:off x="156090" y="7206510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$ 100K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CA91443-7B41-4D2D-A365-D8B684956AE5}"/>
              </a:ext>
            </a:extLst>
          </p:cNvPr>
          <p:cNvSpPr txBox="1"/>
          <p:nvPr/>
        </p:nvSpPr>
        <p:spPr>
          <a:xfrm>
            <a:off x="153572" y="7412062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$ 106K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6D7E9E-15BB-4B41-BCAF-38297240157D}"/>
              </a:ext>
            </a:extLst>
          </p:cNvPr>
          <p:cNvSpPr txBox="1"/>
          <p:nvPr/>
        </p:nvSpPr>
        <p:spPr>
          <a:xfrm>
            <a:off x="163161" y="7611724"/>
            <a:ext cx="95027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$ 112K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1B7130A-F804-481B-876E-3069CB7DC723}"/>
              </a:ext>
            </a:extLst>
          </p:cNvPr>
          <p:cNvSpPr txBox="1"/>
          <p:nvPr/>
        </p:nvSpPr>
        <p:spPr>
          <a:xfrm>
            <a:off x="179024" y="6444442"/>
            <a:ext cx="6304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نسبت ۳</a:t>
            </a:r>
            <a:r>
              <a:rPr lang="en-US" sz="10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.</a:t>
            </a:r>
            <a:r>
              <a:rPr lang="fa-IR" sz="10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۱×</a:t>
            </a:r>
            <a:endParaRPr lang="en-US" sz="10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C16B3A7E-9C38-4521-A34D-552F93FD4A49}"/>
              </a:ext>
            </a:extLst>
          </p:cNvPr>
          <p:cNvSpPr/>
          <p:nvPr/>
        </p:nvSpPr>
        <p:spPr>
          <a:xfrm>
            <a:off x="12749689" y="8467918"/>
            <a:ext cx="6126480" cy="933429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3F5D3A"/>
            </a:solidFill>
          </a:ln>
          <a:effectLst>
            <a:outerShdw blurRad="508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0A3A0592-A733-46C6-8A32-1B3E615FE841}"/>
              </a:ext>
            </a:extLst>
          </p:cNvPr>
          <p:cNvSpPr/>
          <p:nvPr/>
        </p:nvSpPr>
        <p:spPr>
          <a:xfrm>
            <a:off x="6453035" y="8470540"/>
            <a:ext cx="6126480" cy="933429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3F5D3A"/>
            </a:solidFill>
          </a:ln>
          <a:effectLst>
            <a:outerShdw blurRad="508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1A6D16E5-DE8A-4E0A-BC53-43448129849D}"/>
              </a:ext>
            </a:extLst>
          </p:cNvPr>
          <p:cNvSpPr/>
          <p:nvPr/>
        </p:nvSpPr>
        <p:spPr>
          <a:xfrm>
            <a:off x="125575" y="8467240"/>
            <a:ext cx="6167065" cy="933429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3F5D3A"/>
            </a:solidFill>
          </a:ln>
          <a:effectLst>
            <a:outerShdw blurRad="508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69B536C6-AC55-4C13-A408-F150FFE28698}"/>
              </a:ext>
            </a:extLst>
          </p:cNvPr>
          <p:cNvSpPr/>
          <p:nvPr/>
        </p:nvSpPr>
        <p:spPr>
          <a:xfrm>
            <a:off x="12749690" y="9468817"/>
            <a:ext cx="6029372" cy="540165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544B54C9-E438-4EF3-9287-274618C1E0D1}"/>
              </a:ext>
            </a:extLst>
          </p:cNvPr>
          <p:cNvSpPr/>
          <p:nvPr/>
        </p:nvSpPr>
        <p:spPr>
          <a:xfrm>
            <a:off x="6449737" y="9468817"/>
            <a:ext cx="6126479" cy="540165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CAF2DB16-0065-494E-92F0-3FC78BE68B89}"/>
              </a:ext>
            </a:extLst>
          </p:cNvPr>
          <p:cNvSpPr/>
          <p:nvPr/>
        </p:nvSpPr>
        <p:spPr>
          <a:xfrm>
            <a:off x="125575" y="9477663"/>
            <a:ext cx="6167065" cy="540165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3562CBBB-65DF-471D-A3C7-B82A4E60B3D3}"/>
              </a:ext>
            </a:extLst>
          </p:cNvPr>
          <p:cNvSpPr/>
          <p:nvPr/>
        </p:nvSpPr>
        <p:spPr>
          <a:xfrm>
            <a:off x="179025" y="10073830"/>
            <a:ext cx="18503474" cy="540165"/>
          </a:xfrm>
          <a:prstGeom prst="roundRect">
            <a:avLst/>
          </a:prstGeom>
          <a:solidFill>
            <a:srgbClr val="3F5568"/>
          </a:solidFill>
          <a:ln w="10160">
            <a:solidFill>
              <a:srgbClr val="DDD8D0"/>
            </a:solidFill>
          </a:ln>
          <a:effectLst>
            <a:outerShdw blurRad="635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0116B105-E9AD-43BE-960A-11C7DA31C82C}"/>
              </a:ext>
            </a:extLst>
          </p:cNvPr>
          <p:cNvSpPr/>
          <p:nvPr/>
        </p:nvSpPr>
        <p:spPr>
          <a:xfrm>
            <a:off x="17972913" y="8386332"/>
            <a:ext cx="751605" cy="291026"/>
          </a:xfrm>
          <a:prstGeom prst="roundRect">
            <a:avLst/>
          </a:prstGeom>
          <a:solidFill>
            <a:srgbClr val="3F5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050" dirty="0" err="1">
                <a:solidFill>
                  <a:schemeClr val="bg1"/>
                </a:solidFill>
                <a:cs typeface="B Titr" panose="00000700000000000000" pitchFamily="2" charset="-78"/>
              </a:rPr>
              <a:t>رگرسیون</a:t>
            </a:r>
            <a:endParaRPr lang="en-US" sz="105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C4862A57-AA10-4E8D-B4BE-5255BE017096}"/>
              </a:ext>
            </a:extLst>
          </p:cNvPr>
          <p:cNvSpPr/>
          <p:nvPr/>
        </p:nvSpPr>
        <p:spPr>
          <a:xfrm>
            <a:off x="11580109" y="8397585"/>
            <a:ext cx="749808" cy="291026"/>
          </a:xfrm>
          <a:prstGeom prst="roundRect">
            <a:avLst/>
          </a:prstGeom>
          <a:solidFill>
            <a:srgbClr val="3F5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900" dirty="0">
                <a:solidFill>
                  <a:schemeClr val="bg1"/>
                </a:solidFill>
                <a:cs typeface="B Titr" panose="00000700000000000000" pitchFamily="2" charset="-78"/>
              </a:rPr>
              <a:t>دسته بندی</a:t>
            </a:r>
            <a:endParaRPr lang="en-US" sz="9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C2DC266D-81FF-42A8-9EEC-8F7082A7CF78}"/>
              </a:ext>
            </a:extLst>
          </p:cNvPr>
          <p:cNvSpPr/>
          <p:nvPr/>
        </p:nvSpPr>
        <p:spPr>
          <a:xfrm>
            <a:off x="5404738" y="8380945"/>
            <a:ext cx="749808" cy="291026"/>
          </a:xfrm>
          <a:prstGeom prst="roundRect">
            <a:avLst/>
          </a:prstGeom>
          <a:solidFill>
            <a:srgbClr val="3F5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900" dirty="0">
                <a:solidFill>
                  <a:schemeClr val="bg1"/>
                </a:solidFill>
                <a:cs typeface="B Titr" panose="00000700000000000000" pitchFamily="2" charset="-78"/>
              </a:rPr>
              <a:t>خوشه  بندی</a:t>
            </a:r>
            <a:endParaRPr lang="en-US" sz="900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3FFC80D-41C9-4080-9F11-E34123BDEDEE}"/>
              </a:ext>
            </a:extLst>
          </p:cNvPr>
          <p:cNvSpPr txBox="1"/>
          <p:nvPr/>
        </p:nvSpPr>
        <p:spPr>
          <a:xfrm>
            <a:off x="16153663" y="8413367"/>
            <a:ext cx="2001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2A33"/>
                </a:solidFill>
                <a:effectLst/>
                <a:latin typeface="Vazirmatn"/>
              </a:rPr>
              <a:t>Linear Regression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6524D66-757C-4F7C-8264-C435F990F0BB}"/>
              </a:ext>
            </a:extLst>
          </p:cNvPr>
          <p:cNvSpPr txBox="1"/>
          <p:nvPr/>
        </p:nvSpPr>
        <p:spPr>
          <a:xfrm>
            <a:off x="18239352" y="8692785"/>
            <a:ext cx="1117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B0512E"/>
                </a:solidFill>
                <a:effectLst/>
                <a:latin typeface="Bahnschrift" panose="020B0502040204020203" pitchFamily="34" charset="0"/>
                <a:ea typeface="Yu Gothic" panose="020B0400000000000000" pitchFamily="34" charset="-128"/>
              </a:rPr>
              <a:t>0.783</a:t>
            </a:r>
            <a:endParaRPr lang="en-US" dirty="0">
              <a:latin typeface="Bahnschrift" panose="020B0502040204020203" pitchFamily="34" charset="0"/>
              <a:ea typeface="Yu Gothic" panose="020B0400000000000000" pitchFamily="34" charset="-128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FAFE80E0-CB41-43E7-B489-884A7EA7288B}"/>
              </a:ext>
            </a:extLst>
          </p:cNvPr>
          <p:cNvSpPr txBox="1"/>
          <p:nvPr/>
        </p:nvSpPr>
        <p:spPr>
          <a:xfrm>
            <a:off x="17190291" y="8711257"/>
            <a:ext cx="10440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B0512E"/>
                </a:solidFill>
                <a:effectLst/>
                <a:latin typeface="Bahnschrift" panose="020B0502040204020203" pitchFamily="34" charset="0"/>
              </a:rPr>
              <a:t>$</a:t>
            </a:r>
            <a:r>
              <a:rPr lang="fa-IR" sz="1400" b="1" i="0" dirty="0">
                <a:solidFill>
                  <a:srgbClr val="B0512E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en-US" sz="1400" b="1" i="0" dirty="0">
                <a:solidFill>
                  <a:srgbClr val="B0512E"/>
                </a:solidFill>
                <a:effectLst/>
                <a:latin typeface="Bahnschrift" panose="020B0502040204020203" pitchFamily="34" charset="0"/>
              </a:rPr>
              <a:t>25,928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D9555FD-3E07-4B1B-916C-8DD7734C5CD7}"/>
              </a:ext>
            </a:extLst>
          </p:cNvPr>
          <p:cNvSpPr txBox="1"/>
          <p:nvPr/>
        </p:nvSpPr>
        <p:spPr>
          <a:xfrm>
            <a:off x="17983746" y="8715133"/>
            <a:ext cx="4260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solidFill>
                  <a:srgbClr val="5B687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R²</a:t>
            </a:r>
            <a:endParaRPr lang="en-US" sz="16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140ACDC-FD4B-40F1-A5C4-F2B054D771C3}"/>
              </a:ext>
            </a:extLst>
          </p:cNvPr>
          <p:cNvSpPr txBox="1"/>
          <p:nvPr/>
        </p:nvSpPr>
        <p:spPr>
          <a:xfrm>
            <a:off x="16650173" y="8738742"/>
            <a:ext cx="865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5B687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RMSE</a:t>
            </a:r>
            <a:endParaRPr lang="en-US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C41E9B9-EE8D-4E07-8FDF-8B3BB0160DE6}"/>
              </a:ext>
            </a:extLst>
          </p:cNvPr>
          <p:cNvSpPr txBox="1"/>
          <p:nvPr/>
        </p:nvSpPr>
        <p:spPr>
          <a:xfrm>
            <a:off x="12908478" y="8948264"/>
            <a:ext cx="5904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۷۸.۳٪ از تغییرات قیمت با ۸ ویژگی توضیح داده می ‌شود؛ در خانه‌ های لوکس دقت کمتر است.</a:t>
            </a:r>
            <a:endParaRPr lang="en-US" sz="16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63B0B56-86F9-4B3C-A310-2E221377458F}"/>
              </a:ext>
            </a:extLst>
          </p:cNvPr>
          <p:cNvSpPr txBox="1"/>
          <p:nvPr/>
        </p:nvSpPr>
        <p:spPr>
          <a:xfrm>
            <a:off x="10125250" y="8413367"/>
            <a:ext cx="163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2A33"/>
                </a:solidFill>
                <a:effectLst/>
                <a:latin typeface="Vazirmatn"/>
              </a:rPr>
              <a:t>Decision Tree</a:t>
            </a:r>
            <a:endParaRPr lang="en-US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8DAD793-07AD-4FC0-A50C-43B225FDF8B2}"/>
              </a:ext>
            </a:extLst>
          </p:cNvPr>
          <p:cNvSpPr txBox="1"/>
          <p:nvPr/>
        </p:nvSpPr>
        <p:spPr>
          <a:xfrm>
            <a:off x="11669844" y="8700039"/>
            <a:ext cx="87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b="1" i="0" dirty="0">
                <a:solidFill>
                  <a:srgbClr val="B0512E"/>
                </a:solidFill>
                <a:effectLst/>
                <a:latin typeface="Bahnschrift" panose="020B0502040204020203" pitchFamily="34" charset="0"/>
              </a:rPr>
              <a:t>88.4٪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75C8429-C68B-4A34-8CF3-F3214B7595B8}"/>
              </a:ext>
            </a:extLst>
          </p:cNvPr>
          <p:cNvSpPr txBox="1"/>
          <p:nvPr/>
        </p:nvSpPr>
        <p:spPr>
          <a:xfrm>
            <a:off x="9774329" y="8723870"/>
            <a:ext cx="19262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دقت طبقه‌ بندی ارزان/گران</a:t>
            </a:r>
            <a:endParaRPr lang="en-US" sz="16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F2E0D97C-05CF-4B3F-88A5-3D943DDD94BB}"/>
              </a:ext>
            </a:extLst>
          </p:cNvPr>
          <p:cNvSpPr txBox="1"/>
          <p:nvPr/>
        </p:nvSpPr>
        <p:spPr>
          <a:xfrm>
            <a:off x="2948076" y="9034856"/>
            <a:ext cx="95032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مهم ‌ترین گره تصمیم:</a:t>
            </a:r>
            <a:r>
              <a:rPr lang="en-US" sz="1200" b="0" i="0" dirty="0" err="1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OverallQual</a:t>
            </a:r>
            <a:r>
              <a:rPr lang="en-US" sz="12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≤ 5.5 </a:t>
            </a:r>
            <a:r>
              <a:rPr lang="fa-IR" sz="12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 </a:t>
            </a:r>
            <a:r>
              <a:rPr lang="fa-IR" sz="12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  <a:sym typeface="Wingdings" panose="05000000000000000000" pitchFamily="2" charset="2"/>
              </a:rPr>
              <a:t> </a:t>
            </a:r>
            <a:r>
              <a:rPr lang="fa-IR" sz="12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16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تأیید نقش کیفیت به ‌عنوان مهم ‌ترین عامل.</a:t>
            </a:r>
            <a:endParaRPr lang="en-US" sz="1600" dirty="0">
              <a:latin typeface="Bahnschrift" panose="020B0502040204020203" pitchFamily="34" charset="0"/>
              <a:cs typeface="Adobe Arabic" panose="02040703060201020203" pitchFamily="18" charset="-78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CFA1966C-48C1-43AC-A99E-3B44429F1E7C}"/>
              </a:ext>
            </a:extLst>
          </p:cNvPr>
          <p:cNvSpPr txBox="1"/>
          <p:nvPr/>
        </p:nvSpPr>
        <p:spPr>
          <a:xfrm>
            <a:off x="3892961" y="8414292"/>
            <a:ext cx="162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2A33"/>
                </a:solidFill>
                <a:effectLst/>
                <a:latin typeface="Vazirmatn"/>
              </a:rPr>
              <a:t>K-Means (k=4)</a:t>
            </a:r>
            <a:endParaRPr 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9799C14-8593-4854-B6FE-ACAF5C3E0ADE}"/>
              </a:ext>
            </a:extLst>
          </p:cNvPr>
          <p:cNvSpPr txBox="1"/>
          <p:nvPr/>
        </p:nvSpPr>
        <p:spPr>
          <a:xfrm>
            <a:off x="5944657" y="8693092"/>
            <a:ext cx="390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B0512E"/>
                </a:solidFill>
                <a:effectLst/>
                <a:latin typeface="Bahnschrift" panose="020B0502040204020203" pitchFamily="34" charset="0"/>
              </a:rPr>
              <a:t>4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8197D0B-FF8B-458B-BF51-5929FC87B6EF}"/>
              </a:ext>
            </a:extLst>
          </p:cNvPr>
          <p:cNvSpPr txBox="1"/>
          <p:nvPr/>
        </p:nvSpPr>
        <p:spPr>
          <a:xfrm>
            <a:off x="4289505" y="8746846"/>
            <a:ext cx="17657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بخش طبیعی بازار مسکن</a:t>
            </a:r>
            <a:endParaRPr lang="en-US" sz="16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8FE9D685-A17D-42F8-B8B8-DE36A4C06FEF}"/>
              </a:ext>
            </a:extLst>
          </p:cNvPr>
          <p:cNvSpPr txBox="1"/>
          <p:nvPr/>
        </p:nvSpPr>
        <p:spPr>
          <a:xfrm>
            <a:off x="1482340" y="9002164"/>
            <a:ext cx="4712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بدون استفاده از برچسب قیمت، ۴ گروه از اقتصادی تا لوکس شناسایی شد.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367BDA9-EA09-4CF0-B748-8DD961DD2D11}"/>
              </a:ext>
            </a:extLst>
          </p:cNvPr>
          <p:cNvSpPr txBox="1"/>
          <p:nvPr/>
        </p:nvSpPr>
        <p:spPr>
          <a:xfrm>
            <a:off x="16288999" y="9513881"/>
            <a:ext cx="24938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🧱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سقف قیمت محله‌ ای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0C0272F3-C86A-451C-BCCC-E7BA02E9EEC9}"/>
              </a:ext>
            </a:extLst>
          </p:cNvPr>
          <p:cNvSpPr txBox="1"/>
          <p:nvPr/>
        </p:nvSpPr>
        <p:spPr>
          <a:xfrm>
            <a:off x="12755343" y="9700982"/>
            <a:ext cx="5975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در محله‌ های ارزان، حتی افزایش کیفیت تا سطح ۶ قیمت را از</a:t>
            </a:r>
            <a:r>
              <a:rPr lang="en-US" sz="105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$ 154K</a:t>
            </a:r>
            <a:r>
              <a:rPr lang="fa-IR" sz="105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120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بالاتر </a:t>
            </a:r>
            <a:r>
              <a:rPr lang="fa-IR" sz="1200" dirty="0" err="1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نمی</a:t>
            </a:r>
            <a:r>
              <a:rPr lang="fa-IR" sz="120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 برد؛ موقعیت مکانی اثر کیفیت را محدود میکند. </a:t>
            </a:r>
            <a:endParaRPr lang="en-US" sz="1200" dirty="0">
              <a:latin typeface="Bahnschrift" panose="020B0502040204020203" pitchFamily="34" charset="0"/>
              <a:cs typeface="Adobe Arabic" panose="02040703060201020203" pitchFamily="18" charset="-78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04B44066-B21B-442B-9AFB-27ADAEB4DA8E}"/>
              </a:ext>
            </a:extLst>
          </p:cNvPr>
          <p:cNvSpPr txBox="1"/>
          <p:nvPr/>
        </p:nvSpPr>
        <p:spPr>
          <a:xfrm>
            <a:off x="10525919" y="9513881"/>
            <a:ext cx="2093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🔄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هم‌ خطی بین ویژگی ‌ها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117C32A-2BE4-4248-83BD-ADE97FAB8EF7}"/>
              </a:ext>
            </a:extLst>
          </p:cNvPr>
          <p:cNvSpPr txBox="1"/>
          <p:nvPr/>
        </p:nvSpPr>
        <p:spPr>
          <a:xfrm>
            <a:off x="2828872" y="9762646"/>
            <a:ext cx="9677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050" b="0" i="0" dirty="0" err="1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GrLivArea</a:t>
            </a:r>
            <a:r>
              <a:rPr lang="fa-IR" sz="110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11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و </a:t>
            </a:r>
            <a:r>
              <a:rPr lang="en-US" sz="1050" b="0" i="0" dirty="0" err="1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TotalBsmtSF</a:t>
            </a:r>
            <a:r>
              <a:rPr lang="en-US" sz="11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11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همبستگی بالایی دارند؛ همین باعث ضریب منفی </a:t>
            </a:r>
            <a:r>
              <a:rPr lang="en-US" sz="1050" b="0" i="0" dirty="0" err="1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FullBath</a:t>
            </a:r>
            <a:r>
              <a:rPr lang="fa-IR" sz="110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11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و </a:t>
            </a:r>
            <a:r>
              <a:rPr lang="en-US" sz="1050" b="0" i="0" dirty="0" err="1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TotRmsAbvGrd</a:t>
            </a:r>
            <a:r>
              <a:rPr lang="en-US" sz="11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11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در مدل خطی شده.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4C7F0BFB-3F8C-4DE3-861C-20161847C958}"/>
              </a:ext>
            </a:extLst>
          </p:cNvPr>
          <p:cNvSpPr txBox="1"/>
          <p:nvPr/>
        </p:nvSpPr>
        <p:spPr>
          <a:xfrm>
            <a:off x="4450395" y="9479436"/>
            <a:ext cx="18756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100" b="0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🚙</a:t>
            </a:r>
            <a:r>
              <a:rPr lang="fa-IR" sz="1100" b="1" i="0" dirty="0" err="1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گاراژ</a:t>
            </a:r>
            <a:r>
              <a:rPr lang="fa-IR" sz="1100" b="1" i="0" dirty="0">
                <a:solidFill>
                  <a:srgbClr val="1E2A33"/>
                </a:solidFill>
                <a:effectLst/>
                <a:latin typeface="Vazirmatn"/>
                <a:cs typeface="B Titr" panose="00000700000000000000" pitchFamily="2" charset="-78"/>
              </a:rPr>
              <a:t> مهم ‌تر از متراژ زمین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F86459F5-826E-43B5-A4C9-C27000E2D220}"/>
              </a:ext>
            </a:extLst>
          </p:cNvPr>
          <p:cNvSpPr txBox="1"/>
          <p:nvPr/>
        </p:nvSpPr>
        <p:spPr>
          <a:xfrm>
            <a:off x="478911" y="9734907"/>
            <a:ext cx="5726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تعداد ماشین </a:t>
            </a:r>
            <a:r>
              <a:rPr lang="fa-IR" sz="1400" dirty="0">
                <a:solidFill>
                  <a:srgbClr val="5B6870"/>
                </a:solidFill>
                <a:latin typeface="Bahnschrift" panose="020B0502040204020203" pitchFamily="34" charset="0"/>
                <a:cs typeface="Adobe Arabic" panose="02040703060201020203" pitchFamily="18" charset="-78"/>
              </a:rPr>
              <a:t>در </a:t>
            </a:r>
            <a:r>
              <a:rPr lang="fa-IR" sz="1400" b="0" i="0" dirty="0" err="1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گاراژ</a:t>
            </a:r>
            <a:r>
              <a:rPr lang="fa-IR" sz="14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(</a:t>
            </a:r>
            <a:r>
              <a:rPr lang="en-US" sz="14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r=0.63</a:t>
            </a:r>
            <a:r>
              <a:rPr lang="fa-IR" sz="14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) پیش‌ بینی بهتری از قیمت می ‌دهد تا مساحت زمین (</a:t>
            </a:r>
            <a:r>
              <a:rPr lang="en-US" sz="14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Lot Area, r=0.26</a:t>
            </a:r>
            <a:r>
              <a:rPr lang="fa-IR" sz="1400" b="0" i="0" dirty="0">
                <a:solidFill>
                  <a:srgbClr val="5B6870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).</a:t>
            </a:r>
            <a:endParaRPr lang="en-US" sz="1400" dirty="0">
              <a:latin typeface="Bahnschrift" panose="020B0502040204020203" pitchFamily="34" charset="0"/>
              <a:cs typeface="Adobe Arabic" panose="02040703060201020203" pitchFamily="18" charset="-78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5052ADFC-D997-4F5E-B5B5-2E01CF4F09DF}"/>
              </a:ext>
            </a:extLst>
          </p:cNvPr>
          <p:cNvSpPr txBox="1"/>
          <p:nvPr/>
        </p:nvSpPr>
        <p:spPr>
          <a:xfrm>
            <a:off x="17359677" y="10167381"/>
            <a:ext cx="12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600" b="1" i="0" dirty="0">
                <a:solidFill>
                  <a:srgbClr val="C69A3C"/>
                </a:solidFill>
                <a:effectLst/>
                <a:latin typeface="Vazirmatn"/>
                <a:cs typeface="B Titr" panose="00000700000000000000" pitchFamily="2" charset="-78"/>
              </a:rPr>
              <a:t>جمع ‌بندی :</a:t>
            </a:r>
            <a:endParaRPr lang="en-US" sz="1600" dirty="0">
              <a:cs typeface="B Titr" panose="00000700000000000000" pitchFamily="2" charset="-78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F3434AE5-8B4F-420D-968B-6B6CE106D99E}"/>
              </a:ext>
            </a:extLst>
          </p:cNvPr>
          <p:cNvSpPr txBox="1"/>
          <p:nvPr/>
        </p:nvSpPr>
        <p:spPr>
          <a:xfrm>
            <a:off x="196521" y="10078785"/>
            <a:ext cx="17200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0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قیمت مسکن در</a:t>
            </a:r>
            <a:r>
              <a:rPr lang="en-US" b="0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Ames</a:t>
            </a:r>
            <a:r>
              <a:rPr lang="en-US" sz="2400" b="0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</a:t>
            </a:r>
            <a:r>
              <a:rPr lang="fa-IR" sz="2400" b="0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 نتیجه ‌ی تعامل کیفیت ساخت، موقعیت مکانی و مساحت زندگی است؛ هیچ ‌کدام به‌ تنهایی تعیین ‌کننده نیست اما </a:t>
            </a:r>
            <a:r>
              <a:rPr lang="fa-IR" sz="2400" b="1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کیفیت کلی (</a:t>
            </a:r>
            <a:r>
              <a:rPr lang="en-US" b="1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r=0.79</a:t>
            </a:r>
            <a:r>
              <a:rPr lang="fa-IR" sz="2400" b="1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) </a:t>
            </a:r>
            <a:r>
              <a:rPr lang="fa-IR" sz="2400" b="0" i="0" dirty="0">
                <a:solidFill>
                  <a:srgbClr val="F3ECDE"/>
                </a:solidFill>
                <a:effectLst/>
                <a:latin typeface="Bahnschrift" panose="020B0502040204020203" pitchFamily="34" charset="0"/>
                <a:cs typeface="Adobe Arabic" panose="02040703060201020203" pitchFamily="18" charset="-78"/>
              </a:rPr>
              <a:t>قوی‌ ترین سیگنال منفرد باقی می ‌ماند.</a:t>
            </a: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7D3F0B85-57C8-433F-B45F-4E52E59625AB}"/>
              </a:ext>
            </a:extLst>
          </p:cNvPr>
          <p:cNvSpPr/>
          <p:nvPr/>
        </p:nvSpPr>
        <p:spPr>
          <a:xfrm>
            <a:off x="168892" y="222701"/>
            <a:ext cx="822881" cy="827950"/>
          </a:xfrm>
          <a:prstGeom prst="roundRect">
            <a:avLst/>
          </a:prstGeom>
          <a:solidFill>
            <a:srgbClr val="D3A1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Rectangle: Rounded Corners 294">
            <a:extLst>
              <a:ext uri="{FF2B5EF4-FFF2-40B4-BE49-F238E27FC236}">
                <a16:creationId xmlns:a16="http://schemas.microsoft.com/office/drawing/2014/main" id="{F6E7CFF9-F05A-4D9B-B97A-F4DAC0DB05F4}"/>
              </a:ext>
            </a:extLst>
          </p:cNvPr>
          <p:cNvSpPr/>
          <p:nvPr/>
        </p:nvSpPr>
        <p:spPr>
          <a:xfrm>
            <a:off x="1080970" y="222701"/>
            <a:ext cx="822881" cy="827950"/>
          </a:xfrm>
          <a:prstGeom prst="roundRect">
            <a:avLst/>
          </a:prstGeom>
          <a:solidFill>
            <a:srgbClr val="1F2E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6" name="Rectangle: Rounded Corners 295">
            <a:extLst>
              <a:ext uri="{FF2B5EF4-FFF2-40B4-BE49-F238E27FC236}">
                <a16:creationId xmlns:a16="http://schemas.microsoft.com/office/drawing/2014/main" id="{21202D2A-F051-4342-9460-B278EF6C898E}"/>
              </a:ext>
            </a:extLst>
          </p:cNvPr>
          <p:cNvSpPr/>
          <p:nvPr/>
        </p:nvSpPr>
        <p:spPr>
          <a:xfrm>
            <a:off x="1989045" y="225021"/>
            <a:ext cx="822881" cy="827950"/>
          </a:xfrm>
          <a:prstGeom prst="roundRect">
            <a:avLst/>
          </a:prstGeom>
          <a:solidFill>
            <a:srgbClr val="1F2E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16C25BC3-AB50-4F28-AECD-B1DF46CCF61A}"/>
              </a:ext>
            </a:extLst>
          </p:cNvPr>
          <p:cNvSpPr/>
          <p:nvPr/>
        </p:nvSpPr>
        <p:spPr>
          <a:xfrm>
            <a:off x="2898771" y="222702"/>
            <a:ext cx="822960" cy="832104"/>
          </a:xfrm>
          <a:prstGeom prst="roundRect">
            <a:avLst/>
          </a:prstGeom>
          <a:solidFill>
            <a:srgbClr val="B55A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5F7F3A4-64DD-48FA-9D7A-7CFB367AB297}"/>
              </a:ext>
            </a:extLst>
          </p:cNvPr>
          <p:cNvSpPr txBox="1"/>
          <p:nvPr/>
        </p:nvSpPr>
        <p:spPr>
          <a:xfrm>
            <a:off x="248319" y="260010"/>
            <a:ext cx="822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E2A33"/>
                </a:solidFill>
                <a:effectLst/>
                <a:latin typeface="Bahnschrift" panose="020B0502040204020203" pitchFamily="34" charset="0"/>
              </a:rPr>
              <a:t>94.3%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6D3928F-BB8E-431E-AACA-7BF2E8DC6DAB}"/>
              </a:ext>
            </a:extLst>
          </p:cNvPr>
          <p:cNvSpPr txBox="1"/>
          <p:nvPr/>
        </p:nvSpPr>
        <p:spPr>
          <a:xfrm>
            <a:off x="1260735" y="258735"/>
            <a:ext cx="464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3ECDE"/>
                </a:solidFill>
                <a:effectLst/>
                <a:latin typeface="Bahnschrift" panose="020B0502040204020203" pitchFamily="34" charset="0"/>
              </a:rPr>
              <a:t>25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675479A-C99C-4E38-A393-B1A9B4475862}"/>
              </a:ext>
            </a:extLst>
          </p:cNvPr>
          <p:cNvSpPr txBox="1"/>
          <p:nvPr/>
        </p:nvSpPr>
        <p:spPr>
          <a:xfrm>
            <a:off x="2182191" y="261186"/>
            <a:ext cx="538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3ECDE"/>
                </a:solidFill>
                <a:effectLst/>
                <a:latin typeface="Bahnschrift" panose="020B0502040204020203" pitchFamily="34" charset="0"/>
              </a:rPr>
              <a:t>80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D7E01B57-6CE7-4D16-9E8A-B0AA7583A0E5}"/>
              </a:ext>
            </a:extLst>
          </p:cNvPr>
          <p:cNvSpPr txBox="1"/>
          <p:nvPr/>
        </p:nvSpPr>
        <p:spPr>
          <a:xfrm>
            <a:off x="2957673" y="261486"/>
            <a:ext cx="74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3ECDE"/>
                </a:solidFill>
                <a:effectLst/>
                <a:latin typeface="Bahnschrift" panose="020B0502040204020203" pitchFamily="34" charset="0"/>
              </a:rPr>
              <a:t>1,460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F7F884A0-1003-4B8D-9AD8-53712104DC04}"/>
              </a:ext>
            </a:extLst>
          </p:cNvPr>
          <p:cNvSpPr txBox="1"/>
          <p:nvPr/>
        </p:nvSpPr>
        <p:spPr>
          <a:xfrm>
            <a:off x="241765" y="694973"/>
            <a:ext cx="8228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1400" b="0" i="0" dirty="0">
                <a:solidFill>
                  <a:srgbClr val="1E2A33"/>
                </a:solidFill>
                <a:effectLst/>
                <a:latin typeface="Bahnschrift" panose="020B0502040204020203" pitchFamily="34" charset="0"/>
              </a:rPr>
              <a:t>R²</a:t>
            </a:r>
            <a:r>
              <a:rPr lang="en-US" sz="1400" b="0" i="0" dirty="0">
                <a:solidFill>
                  <a:srgbClr val="1E2A33"/>
                </a:solidFill>
                <a:effectLst/>
                <a:latin typeface="Vazirmatn"/>
              </a:rPr>
              <a:t> </a:t>
            </a:r>
            <a:r>
              <a:rPr lang="fa-IR" sz="1400" b="0" i="0" dirty="0">
                <a:solidFill>
                  <a:srgbClr val="1E2A33"/>
                </a:solidFill>
                <a:effectLst/>
                <a:latin typeface="Vazirmatn"/>
              </a:rPr>
              <a:t> </a:t>
            </a:r>
            <a:r>
              <a:rPr lang="fa-IR" sz="1400" b="0" i="0" dirty="0">
                <a:solidFill>
                  <a:srgbClr val="1E2A33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برتر</a:t>
            </a:r>
            <a:endParaRPr lang="en-US" sz="14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6C7C713A-316B-42DB-9853-210407BE8F87}"/>
              </a:ext>
            </a:extLst>
          </p:cNvPr>
          <p:cNvSpPr txBox="1"/>
          <p:nvPr/>
        </p:nvSpPr>
        <p:spPr>
          <a:xfrm>
            <a:off x="1258132" y="679297"/>
            <a:ext cx="5291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b="0" i="0" dirty="0">
                <a:solidFill>
                  <a:srgbClr val="F3ECDE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محله</a:t>
            </a:r>
            <a:endParaRPr lang="en-US" sz="14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6395151C-FA74-476B-AB1E-ED12837038FB}"/>
              </a:ext>
            </a:extLst>
          </p:cNvPr>
          <p:cNvSpPr txBox="1"/>
          <p:nvPr/>
        </p:nvSpPr>
        <p:spPr>
          <a:xfrm>
            <a:off x="2132120" y="681948"/>
            <a:ext cx="5383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b="0" i="0" dirty="0">
                <a:solidFill>
                  <a:srgbClr val="F3ECDE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ویژگی</a:t>
            </a:r>
            <a:endParaRPr lang="en-US" sz="14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75498A6A-EC1B-4E88-AC43-654DD8F6E7D4}"/>
              </a:ext>
            </a:extLst>
          </p:cNvPr>
          <p:cNvSpPr txBox="1"/>
          <p:nvPr/>
        </p:nvSpPr>
        <p:spPr>
          <a:xfrm>
            <a:off x="3128744" y="679296"/>
            <a:ext cx="527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b="0" i="0" dirty="0">
                <a:solidFill>
                  <a:srgbClr val="F3ECDE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خانه</a:t>
            </a:r>
            <a:endParaRPr lang="en-US" sz="14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DD7DEA2F-9E23-44C9-851C-FDE8A6097A6E}"/>
              </a:ext>
            </a:extLst>
          </p:cNvPr>
          <p:cNvCxnSpPr/>
          <p:nvPr/>
        </p:nvCxnSpPr>
        <p:spPr>
          <a:xfrm>
            <a:off x="4064000" y="679296"/>
            <a:ext cx="36035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551684FA-25B4-493E-AC91-FD1BF8747059}"/>
              </a:ext>
            </a:extLst>
          </p:cNvPr>
          <p:cNvCxnSpPr/>
          <p:nvPr/>
        </p:nvCxnSpPr>
        <p:spPr>
          <a:xfrm>
            <a:off x="4060772" y="574169"/>
            <a:ext cx="0" cy="1912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D0AF7630-E80F-41F7-B4D9-1431902F29ED}"/>
              </a:ext>
            </a:extLst>
          </p:cNvPr>
          <p:cNvCxnSpPr/>
          <p:nvPr/>
        </p:nvCxnSpPr>
        <p:spPr>
          <a:xfrm>
            <a:off x="7680272" y="574169"/>
            <a:ext cx="0" cy="1912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048A6D9F-44F7-4CC2-B89A-6733B62AFF91}"/>
              </a:ext>
            </a:extLst>
          </p:cNvPr>
          <p:cNvCxnSpPr/>
          <p:nvPr/>
        </p:nvCxnSpPr>
        <p:spPr>
          <a:xfrm>
            <a:off x="5907069" y="574169"/>
            <a:ext cx="0" cy="191249"/>
          </a:xfrm>
          <a:prstGeom prst="line">
            <a:avLst/>
          </a:prstGeom>
          <a:ln>
            <a:solidFill>
              <a:srgbClr val="B55A3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A41B93B3-39B3-4BD9-BBD7-2B3FC9FC90CF}"/>
              </a:ext>
            </a:extLst>
          </p:cNvPr>
          <p:cNvSpPr txBox="1"/>
          <p:nvPr/>
        </p:nvSpPr>
        <p:spPr>
          <a:xfrm>
            <a:off x="7599615" y="309607"/>
            <a:ext cx="822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کمترین</a:t>
            </a:r>
            <a:endParaRPr lang="en-US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2A982AC0-5BD0-4F82-80F4-4571A458A744}"/>
              </a:ext>
            </a:extLst>
          </p:cNvPr>
          <p:cNvSpPr txBox="1"/>
          <p:nvPr/>
        </p:nvSpPr>
        <p:spPr>
          <a:xfrm>
            <a:off x="7400452" y="750077"/>
            <a:ext cx="9677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latin typeface="Arial Black" panose="020B0A04020102020204" pitchFamily="34" charset="0"/>
              </a:rPr>
              <a:t>$ 34.9K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7C079499-8D4C-480D-9F31-27DE52019E95}"/>
              </a:ext>
            </a:extLst>
          </p:cNvPr>
          <p:cNvSpPr txBox="1"/>
          <p:nvPr/>
        </p:nvSpPr>
        <p:spPr>
          <a:xfrm>
            <a:off x="5708827" y="328795"/>
            <a:ext cx="9677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میانه</a:t>
            </a:r>
            <a:endParaRPr lang="en-US" sz="1400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E95011E1-4393-452D-A1B7-977F2FD33713}"/>
              </a:ext>
            </a:extLst>
          </p:cNvPr>
          <p:cNvSpPr txBox="1"/>
          <p:nvPr/>
        </p:nvSpPr>
        <p:spPr>
          <a:xfrm>
            <a:off x="5661109" y="736913"/>
            <a:ext cx="66652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latin typeface="Arial Black" panose="020B0A04020102020204" pitchFamily="34" charset="0"/>
              </a:rPr>
              <a:t>$ 163K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A186720E-1E44-488D-A6FD-EE1340391733}"/>
              </a:ext>
            </a:extLst>
          </p:cNvPr>
          <p:cNvSpPr txBox="1"/>
          <p:nvPr/>
        </p:nvSpPr>
        <p:spPr>
          <a:xfrm>
            <a:off x="3838609" y="311350"/>
            <a:ext cx="9677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400" b="0" i="0" dirty="0">
                <a:solidFill>
                  <a:srgbClr val="5B6870"/>
                </a:solidFill>
                <a:effectLst/>
                <a:latin typeface="Adobe Arabic" panose="02040703060201020203" pitchFamily="18" charset="-78"/>
                <a:cs typeface="Adobe Arabic" panose="02040703060201020203" pitchFamily="18" charset="-78"/>
              </a:rPr>
              <a:t>بیشترین</a:t>
            </a:r>
            <a:endParaRPr lang="en-US" dirty="0">
              <a:latin typeface="Adobe Arabic" panose="02040703060201020203" pitchFamily="18" charset="-78"/>
              <a:cs typeface="Adobe Arabic" panose="02040703060201020203" pitchFamily="18" charset="-78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3BF2F699-285F-4012-89FC-1F354EB60B93}"/>
              </a:ext>
            </a:extLst>
          </p:cNvPr>
          <p:cNvSpPr txBox="1"/>
          <p:nvPr/>
        </p:nvSpPr>
        <p:spPr>
          <a:xfrm>
            <a:off x="3806846" y="736486"/>
            <a:ext cx="9677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latin typeface="Arial Black" panose="020B0A04020102020204" pitchFamily="34" charset="0"/>
              </a:rPr>
              <a:t>$ 755K</a:t>
            </a:r>
          </a:p>
        </p:txBody>
      </p:sp>
    </p:spTree>
    <p:extLst>
      <p:ext uri="{BB962C8B-B14F-4D97-AF65-F5344CB8AC3E}">
        <p14:creationId xmlns:p14="http://schemas.microsoft.com/office/powerpoint/2010/main" val="354684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</TotalTime>
  <Words>512</Words>
  <Application>Microsoft Office PowerPoint</Application>
  <PresentationFormat>Custom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Yu Gothic</vt:lpstr>
      <vt:lpstr>Adobe Arabic</vt:lpstr>
      <vt:lpstr>Arial</vt:lpstr>
      <vt:lpstr>Arial Black</vt:lpstr>
      <vt:lpstr>Bahnschrift</vt:lpstr>
      <vt:lpstr>Calibri</vt:lpstr>
      <vt:lpstr>Calibri Light</vt:lpstr>
      <vt:lpstr>IRFerdosi</vt:lpstr>
      <vt:lpstr>Vazirmatn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 dehghani</dc:creator>
  <cp:lastModifiedBy>sara dehghani</cp:lastModifiedBy>
  <cp:revision>51</cp:revision>
  <dcterms:created xsi:type="dcterms:W3CDTF">2026-07-17T01:44:52Z</dcterms:created>
  <dcterms:modified xsi:type="dcterms:W3CDTF">2026-07-18T08:08:23Z</dcterms:modified>
</cp:coreProperties>
</file>